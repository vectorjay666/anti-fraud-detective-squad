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custom"/>
  <p:notesSz cx="12192000" cy="6858000"/>
  <p:embeddedFontLst>
    <p:embeddedFont>
      <p:font typeface="MiSans" charset="-122" pitchFamily="34"/>
      <p:regular r:id="rId19"/>
    </p:embeddedFont>
    <p:embeddedFont>
      <p:font typeface="Alimama ShuHeiTi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xinhuanet.com/law/20260109/e5ac1ba872f244d9b01f53f9935c9f45/c.html" TargetMode="External"/><Relationship Id="rId3" Type="http://schemas.openxmlformats.org/officeDocument/2006/relationships/hyperlink" Target="https://gat.hunan.gov.cn/gat/jwgk/jwzx/jqfb/202601/t20260114_33892832.html" TargetMode="External"/><Relationship Id="rId4" Type="http://schemas.openxmlformats.org/officeDocument/2006/relationships/hyperlink" Target="https://credit.shuangyashan.gov.cn/m_374/8865.html" TargetMode="External"/><Relationship Id="rId5" Type="http://schemas.openxmlformats.org/officeDocument/2006/relationships/hyperlink" Target="https://news.cctv.com/2025/06/16/ARTIO1lBEuqPzlU9wkZLP4PU250616.shtml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RealProjectScreenshot" Type="http://schemas.openxmlformats.org/officeDocument/2006/relationships/image" Target="../media/real-project-rule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RealProjectScreenshot" Type="http://schemas.openxmlformats.org/officeDocument/2006/relationships/image" Target="../media/real-project-analysis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RealProjectScreenshot" Type="http://schemas.openxmlformats.org/officeDocument/2006/relationships/image" Target="../media/real-project-input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host-en"/>
          <p:cNvSpPr txBox="1"/>
          <p:nvPr/>
        </p:nvSpPr>
        <p:spPr>
          <a:xfrm>
            <a:off x="762000" y="711200"/>
            <a:ext cx="1041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600" noProof="1" spc="300" kern="0">
                <a:solidFill>
                  <a:srgbClr val="2B5CE6">
                    <a:alpha val="5098"/>
                  </a:srgbClr>
                </a:solidFill>
                <a:latin typeface="Alimama ShuHeiTi"/>
                <a:ea typeface="Alimama ShuHeiTi"/>
              </a:rPr>
              <a:t>FRAUD DETECTIVES</a:t>
            </a:r>
            <a:endParaRPr lang="en-US" sz="5600" noProof="1"/>
          </a:p>
        </p:txBody>
      </p:sp>
      <p:sp>
        <p:nvSpPr>
          <p:cNvPr id="3" name="slash"/>
          <p:cNvSpPr/>
          <p:nvPr/>
        </p:nvSpPr>
        <p:spPr>
          <a:xfrm rot="960000">
            <a:off x="5461000" y="-1524000"/>
            <a:ext cx="3810000" cy="10160000"/>
          </a:xfrm>
          <a:prstGeom prst="rect">
            <a:avLst/>
          </a:prstGeom>
          <a:gradFill rotWithShape="1">
            <a:gsLst>
              <a:gs pos="0">
                <a:srgbClr val="2B5CE6">
                  <a:alpha val="10196"/>
                </a:srgbClr>
              </a:gs>
              <a:gs pos="100000">
                <a:srgbClr val="3BF0C8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slash2"/>
          <p:cNvSpPr/>
          <p:nvPr/>
        </p:nvSpPr>
        <p:spPr>
          <a:xfrm rot="960000">
            <a:off x="9652000" y="-1524000"/>
            <a:ext cx="1524000" cy="10160000"/>
          </a:xfrm>
          <a:prstGeom prst="rect">
            <a:avLst/>
          </a:prstGeom>
          <a:gradFill rotWithShape="1">
            <a:gsLst>
              <a:gs pos="0">
                <a:srgbClr val="E93D82">
                  <a:alpha val="7843"/>
                </a:srgbClr>
              </a:gs>
              <a:gs pos="100000">
                <a:srgbClr val="FF4D8D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net-l0"/>
          <p:cNvSpPr/>
          <p:nvPr>
            <p:extLst>
              <p:ext uri="{F5677B7D-0D2A-4D9B-9A5C-6D8D7D0E5A5D}">
                <pptd:line encoding="base64url">eyJ2aWV3Qm94IjpbMTIyLDQ0XSwicG9pbnRzIjoiMCw0NCAxMjIsMCJ9</pptd:line>
              </p:ext>
            </p:extLst>
          </p:nvPr>
        </p:nvSpPr>
        <p:spPr>
          <a:xfrm>
            <a:off x="7620000" y="1219200"/>
            <a:ext cx="1549400" cy="558800"/>
          </a:xfrm>
          <a:custGeom>
            <a:avLst/>
            <a:gdLst/>
            <a:ahLst/>
            <a:cxnLst/>
            <a:rect l="l" t="t" r="r" b="b"/>
            <a:pathLst>
              <a:path w="122" h="44">
                <a:moveTo>
                  <a:pt x="0" y="44"/>
                </a:moveTo>
                <a:lnTo>
                  <a:pt x="122" y="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6" name="net-l1"/>
          <p:cNvSpPr/>
          <p:nvPr>
            <p:extLst>
              <p:ext uri="{F5677B7D-0D2A-4D9B-9A5C-6D8D7D0E5A5D}">
                <pptd:line encoding="base64url">eyJ2aWV3Qm94IjpbMTI2LDcyXSwicG9pbnRzIjoiMCwwIDEyNiw3MiJ9</pptd:line>
              </p:ext>
            </p:extLst>
          </p:nvPr>
        </p:nvSpPr>
        <p:spPr>
          <a:xfrm>
            <a:off x="9169400" y="1219200"/>
            <a:ext cx="1600200" cy="914400"/>
          </a:xfrm>
          <a:custGeom>
            <a:avLst/>
            <a:gdLst/>
            <a:ahLst/>
            <a:cxnLst/>
            <a:rect l="l" t="t" r="r" b="b"/>
            <a:pathLst>
              <a:path w="126" h="72">
                <a:moveTo>
                  <a:pt x="0" y="0"/>
                </a:moveTo>
                <a:lnTo>
                  <a:pt x="126" y="72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7" name="net-l2"/>
          <p:cNvSpPr/>
          <p:nvPr>
            <p:extLst>
              <p:ext uri="{F5677B7D-0D2A-4D9B-9A5C-6D8D7D0E5A5D}">
                <pptd:line encoding="base64url">eyJ2aWV3Qm94IjpbNjQsMTEyXSwicG9pbnRzIjoiMCwwIDY0LDExMiJ9</pptd:line>
              </p:ext>
            </p:extLst>
          </p:nvPr>
        </p:nvSpPr>
        <p:spPr>
          <a:xfrm>
            <a:off x="7620000" y="1778000"/>
            <a:ext cx="812800" cy="1422400"/>
          </a:xfrm>
          <a:custGeom>
            <a:avLst/>
            <a:gdLst/>
            <a:ahLst/>
            <a:cxnLst/>
            <a:rect l="l" t="t" r="r" b="b"/>
            <a:pathLst>
              <a:path w="64" h="112">
                <a:moveTo>
                  <a:pt x="0" y="0"/>
                </a:moveTo>
                <a:lnTo>
                  <a:pt x="64" y="112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8" name="net-l3"/>
          <p:cNvSpPr/>
          <p:nvPr>
            <p:extLst>
              <p:ext uri="{F5677B7D-0D2A-4D9B-9A5C-6D8D7D0E5A5D}">
                <pptd:line encoding="base64url">eyJ2aWV3Qm94IjpbNTQsNzBdLCJwb2ludHMiOiIwLDAgNTQsNzAifQ</pptd:line>
              </p:ext>
            </p:extLst>
          </p:nvPr>
        </p:nvSpPr>
        <p:spPr>
          <a:xfrm>
            <a:off x="10769600" y="2133600"/>
            <a:ext cx="685800" cy="889000"/>
          </a:xfrm>
          <a:custGeom>
            <a:avLst/>
            <a:gdLst/>
            <a:ahLst/>
            <a:cxnLst/>
            <a:rect l="l" t="t" r="r" b="b"/>
            <a:pathLst>
              <a:path w="54" h="70">
                <a:moveTo>
                  <a:pt x="0" y="0"/>
                </a:moveTo>
                <a:lnTo>
                  <a:pt x="54" y="7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9" name="net-l4"/>
          <p:cNvSpPr/>
          <p:nvPr>
            <p:extLst>
              <p:ext uri="{F5677B7D-0D2A-4D9B-9A5C-6D8D7D0E5A5D}">
                <pptd:line encoding="base64url">eyJ2aWV3Qm94IjpbMTI4LDY2XSwicG9pbnRzIjoiMCwwIDEyOCw2NiJ9</pptd:line>
              </p:ext>
            </p:extLst>
          </p:nvPr>
        </p:nvSpPr>
        <p:spPr>
          <a:xfrm>
            <a:off x="8432800" y="3200400"/>
            <a:ext cx="1625600" cy="838200"/>
          </a:xfrm>
          <a:custGeom>
            <a:avLst/>
            <a:gdLst/>
            <a:ahLst/>
            <a:cxnLst/>
            <a:rect l="l" t="t" r="r" b="b"/>
            <a:pathLst>
              <a:path w="128" h="66">
                <a:moveTo>
                  <a:pt x="0" y="0"/>
                </a:moveTo>
                <a:lnTo>
                  <a:pt x="128" y="66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0" name="net-l5"/>
          <p:cNvSpPr/>
          <p:nvPr>
            <p:extLst>
              <p:ext uri="{F5677B7D-0D2A-4D9B-9A5C-6D8D7D0E5A5D}">
                <pptd:line encoding="base64url">eyJ2aWV3Qm94IjpbMTEwLDgwXSwicG9pbnRzIjoiMCw4MCAxMTAsMCJ9</pptd:line>
              </p:ext>
            </p:extLst>
          </p:nvPr>
        </p:nvSpPr>
        <p:spPr>
          <a:xfrm>
            <a:off x="10058400" y="3022600"/>
            <a:ext cx="1397000" cy="1016000"/>
          </a:xfrm>
          <a:custGeom>
            <a:avLst/>
            <a:gdLst/>
            <a:ahLst/>
            <a:cxnLst/>
            <a:rect l="l" t="t" r="r" b="b"/>
            <a:pathLst>
              <a:path w="110" h="80">
                <a:moveTo>
                  <a:pt x="0" y="80"/>
                </a:moveTo>
                <a:lnTo>
                  <a:pt x="110" y="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1" name="net-l6"/>
          <p:cNvSpPr/>
          <p:nvPr>
            <p:extLst>
              <p:ext uri="{F5677B7D-0D2A-4D9B-9A5C-6D8D7D0E5A5D}">
                <pptd:line encoding="base64url">eyJ2aWV3Qm94IjpbNDYsMTIwXSwicG9pbnRzIjoiMCwxMjAgNDYsMCJ9</pptd:line>
              </p:ext>
            </p:extLst>
          </p:nvPr>
        </p:nvSpPr>
        <p:spPr>
          <a:xfrm>
            <a:off x="7848600" y="3200400"/>
            <a:ext cx="584200" cy="1524000"/>
          </a:xfrm>
          <a:custGeom>
            <a:avLst/>
            <a:gdLst/>
            <a:ahLst/>
            <a:cxnLst/>
            <a:rect l="l" t="t" r="r" b="b"/>
            <a:pathLst>
              <a:path w="46" h="120">
                <a:moveTo>
                  <a:pt x="0" y="120"/>
                </a:moveTo>
                <a:lnTo>
                  <a:pt x="46" y="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2" name="net-l7"/>
          <p:cNvSpPr/>
          <p:nvPr>
            <p:extLst>
              <p:ext uri="{F5677B7D-0D2A-4D9B-9A5C-6D8D7D0E5A5D}">
                <pptd:line encoding="base64url">eyJ2aWV3Qm94IjpbMzAsMTE0XSwicG9pbnRzIjoiMCwxMTQgMzAsMCJ9</pptd:line>
              </p:ext>
            </p:extLst>
          </p:nvPr>
        </p:nvSpPr>
        <p:spPr>
          <a:xfrm>
            <a:off x="9677400" y="4038600"/>
            <a:ext cx="381000" cy="1447800"/>
          </a:xfrm>
          <a:custGeom>
            <a:avLst/>
            <a:gdLst/>
            <a:ahLst/>
            <a:cxnLst/>
            <a:rect l="l" t="t" r="r" b="b"/>
            <a:pathLst>
              <a:path w="30" h="114">
                <a:moveTo>
                  <a:pt x="0" y="114"/>
                </a:moveTo>
                <a:lnTo>
                  <a:pt x="30" y="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3" name="net-l8"/>
          <p:cNvSpPr/>
          <p:nvPr>
            <p:extLst>
              <p:ext uri="{F5677B7D-0D2A-4D9B-9A5C-6D8D7D0E5A5D}">
                <pptd:line encoding="base64url">eyJ2aWV3Qm94IjpbMTQ0LDYwXSwicG9pbnRzIjoiMCwwIDE0NCw2MCJ9</pptd:line>
              </p:ext>
            </p:extLst>
          </p:nvPr>
        </p:nvSpPr>
        <p:spPr>
          <a:xfrm>
            <a:off x="7848600" y="4724400"/>
            <a:ext cx="1828800" cy="762000"/>
          </a:xfrm>
          <a:custGeom>
            <a:avLst/>
            <a:gdLst/>
            <a:ahLst/>
            <a:cxnLst/>
            <a:rect l="l" t="t" r="r" b="b"/>
            <a:pathLst>
              <a:path w="144" h="60">
                <a:moveTo>
                  <a:pt x="0" y="0"/>
                </a:moveTo>
                <a:lnTo>
                  <a:pt x="144" y="6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4" name="net-l9"/>
          <p:cNvSpPr/>
          <p:nvPr>
            <p:extLst>
              <p:ext uri="{F5677B7D-0D2A-4D9B-9A5C-6D8D7D0E5A5D}">
                <pptd:line encoding="base64url">eyJ2aWV3Qm94IjpbMTAsMTI0XSwicG9pbnRzIjoiMCwxMjQgMTAsMCJ9</pptd:line>
              </p:ext>
            </p:extLst>
          </p:nvPr>
        </p:nvSpPr>
        <p:spPr>
          <a:xfrm>
            <a:off x="11328400" y="3022600"/>
            <a:ext cx="127000" cy="1574800"/>
          </a:xfrm>
          <a:custGeom>
            <a:avLst/>
            <a:gdLst/>
            <a:ahLst/>
            <a:cxnLst/>
            <a:rect l="l" t="t" r="r" b="b"/>
            <a:pathLst>
              <a:path w="10" h="124">
                <a:moveTo>
                  <a:pt x="0" y="124"/>
                </a:moveTo>
                <a:lnTo>
                  <a:pt x="10" y="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5" name="net-l10"/>
          <p:cNvSpPr/>
          <p:nvPr>
            <p:extLst>
              <p:ext uri="{F5677B7D-0D2A-4D9B-9A5C-6D8D7D0E5A5D}">
                <pptd:line encoding="base64url">eyJ2aWV3Qm94IjpbMTMwLDcwXSwicG9pbnRzIjoiMCw3MCAxMzAsMCJ9</pptd:line>
              </p:ext>
            </p:extLst>
          </p:nvPr>
        </p:nvSpPr>
        <p:spPr>
          <a:xfrm>
            <a:off x="9677400" y="4597400"/>
            <a:ext cx="1651000" cy="889000"/>
          </a:xfrm>
          <a:custGeom>
            <a:avLst/>
            <a:gdLst/>
            <a:ahLst/>
            <a:cxnLst/>
            <a:rect l="l" t="t" r="r" b="b"/>
            <a:pathLst>
              <a:path w="130" h="70">
                <a:moveTo>
                  <a:pt x="0" y="70"/>
                </a:moveTo>
                <a:lnTo>
                  <a:pt x="130" y="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6" name="net-l11"/>
          <p:cNvSpPr/>
          <p:nvPr>
            <p:extLst>
              <p:ext uri="{F5677B7D-0D2A-4D9B-9A5C-6D8D7D0E5A5D}">
                <pptd:line encoding="base64url">eyJ2aWV3Qm94IjpbMTA2LDQwXSwicG9pbnRzIjoiMCwwIDEwNiw0MCJ9</pptd:line>
              </p:ext>
            </p:extLst>
          </p:nvPr>
        </p:nvSpPr>
        <p:spPr>
          <a:xfrm>
            <a:off x="7620000" y="1778000"/>
            <a:ext cx="1346200" cy="508000"/>
          </a:xfrm>
          <a:custGeom>
            <a:avLst/>
            <a:gdLst/>
            <a:ahLst/>
            <a:cxnLst/>
            <a:rect l="l" t="t" r="r" b="b"/>
            <a:pathLst>
              <a:path w="106" h="40">
                <a:moveTo>
                  <a:pt x="0" y="0"/>
                </a:moveTo>
                <a:lnTo>
                  <a:pt x="106" y="4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7" name="net-l12"/>
          <p:cNvSpPr/>
          <p:nvPr>
            <p:extLst>
              <p:ext uri="{F5677B7D-0D2A-4D9B-9A5C-6D8D7D0E5A5D}">
                <pptd:line encoding="base64url">eyJ2aWV3Qm94IjpbNDIsNzJdLCJwb2ludHMiOiIwLDcyIDQyLDAifQ</pptd:line>
              </p:ext>
            </p:extLst>
          </p:nvPr>
        </p:nvSpPr>
        <p:spPr>
          <a:xfrm>
            <a:off x="8432800" y="2286000"/>
            <a:ext cx="533400" cy="914400"/>
          </a:xfrm>
          <a:custGeom>
            <a:avLst/>
            <a:gdLst/>
            <a:ahLst/>
            <a:cxnLst/>
            <a:rect l="l" t="t" r="r" b="b"/>
            <a:pathLst>
              <a:path w="42" h="72">
                <a:moveTo>
                  <a:pt x="0" y="72"/>
                </a:moveTo>
                <a:lnTo>
                  <a:pt x="42" y="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8" name="net-l13"/>
          <p:cNvSpPr/>
          <p:nvPr>
            <p:extLst>
              <p:ext uri="{F5677B7D-0D2A-4D9B-9A5C-6D8D7D0E5A5D}">
                <pptd:line encoding="base64url">eyJ2aWV3Qm94IjpbNjAsMzRdLCJwb2ludHMiOiIwLDM0IDYwLDAifQ</pptd:line>
              </p:ext>
            </p:extLst>
          </p:nvPr>
        </p:nvSpPr>
        <p:spPr>
          <a:xfrm>
            <a:off x="10693400" y="3022600"/>
            <a:ext cx="762000" cy="431800"/>
          </a:xfrm>
          <a:custGeom>
            <a:avLst/>
            <a:gdLst/>
            <a:ahLst/>
            <a:cxnLst/>
            <a:rect l="l" t="t" r="r" b="b"/>
            <a:pathLst>
              <a:path w="60" h="34">
                <a:moveTo>
                  <a:pt x="0" y="34"/>
                </a:moveTo>
                <a:lnTo>
                  <a:pt x="60" y="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19" name="net-l14"/>
          <p:cNvSpPr/>
          <p:nvPr>
            <p:extLst>
              <p:ext uri="{F5677B7D-0D2A-4D9B-9A5C-6D8D7D0E5A5D}">
                <pptd:line encoding="base64url">eyJ2aWV3Qm94IjpbNTAsNDZdLCJwb2ludHMiOiIwLDQ2IDUwLDAifQ</pptd:line>
              </p:ext>
            </p:extLst>
          </p:nvPr>
        </p:nvSpPr>
        <p:spPr>
          <a:xfrm>
            <a:off x="10058400" y="3454400"/>
            <a:ext cx="635000" cy="584200"/>
          </a:xfrm>
          <a:custGeom>
            <a:avLst/>
            <a:gdLst/>
            <a:ahLst/>
            <a:cxnLst/>
            <a:rect l="l" t="t" r="r" b="b"/>
            <a:pathLst>
              <a:path w="50" h="46">
                <a:moveTo>
                  <a:pt x="0" y="46"/>
                </a:moveTo>
                <a:lnTo>
                  <a:pt x="50" y="0"/>
                </a:lnTo>
              </a:path>
            </a:pathLst>
          </a:custGeom>
          <a:noFill/>
          <a:ln w="12700" cap="rnd">
            <a:solidFill>
              <a:srgbClr val="2B5CE6">
                <a:alpha val="33333"/>
              </a:srgbClr>
            </a:solidFill>
            <a:round/>
          </a:ln>
        </p:spPr>
      </p:sp>
      <p:sp>
        <p:nvSpPr>
          <p:cNvPr id="20" name="net-nA"/>
          <p:cNvSpPr/>
          <p:nvPr/>
        </p:nvSpPr>
        <p:spPr>
          <a:xfrm>
            <a:off x="7543800" y="1701800"/>
            <a:ext cx="152400" cy="152400"/>
          </a:xfrm>
          <a:prstGeom prst="ellipse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21" name="net-nB"/>
          <p:cNvSpPr/>
          <p:nvPr/>
        </p:nvSpPr>
        <p:spPr>
          <a:xfrm>
            <a:off x="9105900" y="1155700"/>
            <a:ext cx="127000" cy="127000"/>
          </a:xfrm>
          <a:prstGeom prst="ellipse">
            <a:avLst/>
          </a:prstGeom>
          <a:solidFill>
            <a:srgbClr val="7AA5FF"/>
          </a:solidFill>
          <a:ln>
            <a:noFill/>
          </a:ln>
        </p:spPr>
      </p:sp>
      <p:sp>
        <p:nvSpPr>
          <p:cNvPr id="22" name="net-nC"/>
          <p:cNvSpPr/>
          <p:nvPr/>
        </p:nvSpPr>
        <p:spPr>
          <a:xfrm>
            <a:off x="10680700" y="2044700"/>
            <a:ext cx="177800" cy="177800"/>
          </a:xfrm>
          <a:prstGeom prst="ellipse">
            <a:avLst/>
          </a:prstGeom>
          <a:solidFill>
            <a:srgbClr val="E93D82"/>
          </a:solidFill>
          <a:ln>
            <a:noFill/>
          </a:ln>
        </p:spPr>
      </p:sp>
      <p:sp>
        <p:nvSpPr>
          <p:cNvPr id="23" name="net-nD"/>
          <p:cNvSpPr/>
          <p:nvPr/>
        </p:nvSpPr>
        <p:spPr>
          <a:xfrm>
            <a:off x="8369300" y="3136900"/>
            <a:ext cx="127000" cy="127000"/>
          </a:xfrm>
          <a:prstGeom prst="ellipse">
            <a:avLst/>
          </a:prstGeom>
          <a:solidFill>
            <a:srgbClr val="7AA5FF"/>
          </a:solidFill>
          <a:ln>
            <a:noFill/>
          </a:ln>
        </p:spPr>
      </p:sp>
      <p:sp>
        <p:nvSpPr>
          <p:cNvPr id="24" name="net-nE"/>
          <p:cNvSpPr/>
          <p:nvPr/>
        </p:nvSpPr>
        <p:spPr>
          <a:xfrm>
            <a:off x="9982200" y="3962400"/>
            <a:ext cx="152400" cy="152400"/>
          </a:xfrm>
          <a:prstGeom prst="ellipse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25" name="net-nF"/>
          <p:cNvSpPr/>
          <p:nvPr/>
        </p:nvSpPr>
        <p:spPr>
          <a:xfrm>
            <a:off x="11391900" y="2959100"/>
            <a:ext cx="127000" cy="127000"/>
          </a:xfrm>
          <a:prstGeom prst="ellipse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26" name="net-nG"/>
          <p:cNvSpPr/>
          <p:nvPr/>
        </p:nvSpPr>
        <p:spPr>
          <a:xfrm>
            <a:off x="7785100" y="4660900"/>
            <a:ext cx="127000" cy="127000"/>
          </a:xfrm>
          <a:prstGeom prst="ellipse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27" name="net-nH"/>
          <p:cNvSpPr/>
          <p:nvPr/>
        </p:nvSpPr>
        <p:spPr>
          <a:xfrm>
            <a:off x="9588500" y="5397500"/>
            <a:ext cx="177800" cy="177800"/>
          </a:xfrm>
          <a:prstGeom prst="ellipse">
            <a:avLst/>
          </a:prstGeom>
          <a:solidFill>
            <a:srgbClr val="E93D82"/>
          </a:solidFill>
          <a:ln>
            <a:noFill/>
          </a:ln>
        </p:spPr>
      </p:sp>
      <p:sp>
        <p:nvSpPr>
          <p:cNvPr id="28" name="net-nI"/>
          <p:cNvSpPr/>
          <p:nvPr/>
        </p:nvSpPr>
        <p:spPr>
          <a:xfrm>
            <a:off x="11264900" y="4533900"/>
            <a:ext cx="127000" cy="127000"/>
          </a:xfrm>
          <a:prstGeom prst="ellipse">
            <a:avLst/>
          </a:prstGeom>
          <a:solidFill>
            <a:srgbClr val="7AA5FF"/>
          </a:solidFill>
          <a:ln>
            <a:noFill/>
          </a:ln>
        </p:spPr>
      </p:sp>
      <p:sp>
        <p:nvSpPr>
          <p:cNvPr id="29" name="net-nJ"/>
          <p:cNvSpPr/>
          <p:nvPr/>
        </p:nvSpPr>
        <p:spPr>
          <a:xfrm>
            <a:off x="8928100" y="2247900"/>
            <a:ext cx="76200" cy="76200"/>
          </a:xfrm>
          <a:prstGeom prst="ellipse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30" name="net-nK"/>
          <p:cNvSpPr/>
          <p:nvPr/>
        </p:nvSpPr>
        <p:spPr>
          <a:xfrm>
            <a:off x="10655300" y="3416300"/>
            <a:ext cx="76200" cy="76200"/>
          </a:xfrm>
          <a:prstGeom prst="ellipse">
            <a:avLst/>
          </a:prstGeom>
          <a:solidFill>
            <a:srgbClr val="7AA5FF"/>
          </a:solidFill>
          <a:ln>
            <a:noFill/>
          </a:ln>
        </p:spPr>
      </p:sp>
      <p:sp>
        <p:nvSpPr>
          <p:cNvPr id="31" name="corner-tl-a"/>
          <p:cNvSpPr/>
          <p:nvPr/>
        </p:nvSpPr>
        <p:spPr>
          <a:xfrm>
            <a:off x="508000" y="508000"/>
            <a:ext cx="279400" cy="25400"/>
          </a:xfrm>
          <a:prstGeom prst="rect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32" name="corner-tl-b"/>
          <p:cNvSpPr/>
          <p:nvPr/>
        </p:nvSpPr>
        <p:spPr>
          <a:xfrm>
            <a:off x="508000" y="508000"/>
            <a:ext cx="25400" cy="279400"/>
          </a:xfrm>
          <a:prstGeom prst="rect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33" name="kicker-bar"/>
          <p:cNvSpPr/>
          <p:nvPr/>
        </p:nvSpPr>
        <p:spPr>
          <a:xfrm rot="2700000">
            <a:off x="787400" y="1981200"/>
            <a:ext cx="101600" cy="101600"/>
          </a:xfrm>
          <a:prstGeom prst="rect">
            <a:avLst/>
          </a:prstGeom>
          <a:solidFill>
            <a:srgbClr val="E93D82"/>
          </a:solidFill>
          <a:ln>
            <a:noFill/>
          </a:ln>
        </p:spPr>
      </p:sp>
      <p:sp>
        <p:nvSpPr>
          <p:cNvPr id="34" name="kicker"/>
          <p:cNvSpPr txBox="1"/>
          <p:nvPr/>
        </p:nvSpPr>
        <p:spPr>
          <a:xfrm>
            <a:off x="1041400" y="1879600"/>
            <a:ext cx="660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300" kern="0">
                <a:solidFill>
                  <a:srgbClr val="54648A"/>
                </a:solidFill>
                <a:latin typeface="MiSans"/>
                <a:ea typeface="MiSans"/>
              </a:rPr>
              <a:t>第十一届华为 ICT 大赛创新赛 · 赛题 2 · 多智能体协同</a:t>
            </a:r>
            <a:endParaRPr lang="en-US" sz="1200" noProof="1"/>
          </a:p>
        </p:txBody>
      </p:sp>
      <p:sp>
        <p:nvSpPr>
          <p:cNvPr id="35" name="title"/>
          <p:cNvSpPr txBox="1"/>
          <p:nvPr/>
        </p:nvSpPr>
        <p:spPr>
          <a:xfrm>
            <a:off x="736600" y="24384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600" noProof="1" spc="600" kern="0">
                <a:gradFill rotWithShape="1">
                  <a:gsLst>
                    <a:gs pos="0">
                      <a:srgbClr val="16233F"/>
                    </a:gs>
                    <a:gs pos="100000">
                      <a:srgbClr val="2B5CE6"/>
                    </a:gs>
                  </a:gsLst>
                  <a:lin ang="0" scaled="1"/>
                </a:gradFill>
                <a:latin typeface="Alimama ShuHeiTi"/>
                <a:ea typeface="Alimama ShuHeiTi"/>
              </a:rPr>
              <a:t>反诈侦探团</a:t>
            </a:r>
            <a:endParaRPr lang="en-US" sz="5600" noProof="1"/>
          </a:p>
        </p:txBody>
      </p:sp>
      <p:sp>
        <p:nvSpPr>
          <p:cNvPr id="36" name="title-en"/>
          <p:cNvSpPr txBox="1"/>
          <p:nvPr/>
        </p:nvSpPr>
        <p:spPr>
          <a:xfrm>
            <a:off x="762000" y="38862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600" kern="0">
                <a:solidFill>
                  <a:srgbClr val="2B5CE6"/>
                </a:solidFill>
                <a:latin typeface="MiSans"/>
                <a:ea typeface="MiSans"/>
              </a:rPr>
              <a:t>MULTI-AGENT FRAUD INVESTIGATION</a:t>
            </a:r>
            <a:endParaRPr lang="en-US" sz="1200" noProof="1"/>
          </a:p>
        </p:txBody>
      </p:sp>
      <p:sp>
        <p:nvSpPr>
          <p:cNvPr id="37" name="sub"/>
          <p:cNvSpPr txBox="1"/>
          <p:nvPr/>
        </p:nvSpPr>
        <p:spPr>
          <a:xfrm>
            <a:off x="762000" y="44704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16233F"/>
                </a:solidFill>
                <a:latin typeface="MiSans"/>
                <a:ea typeface="MiSans"/>
              </a:rPr>
              <a:t>一群互相核对的 AI，只指认证据撑得住的人</a:t>
            </a:r>
            <a:endParaRPr lang="en-US" sz="1800" noProof="1"/>
          </a:p>
        </p:txBody>
      </p:sp>
      <p:sp>
        <p:nvSpPr>
          <p:cNvPr id="38" name="sub2"/>
          <p:cNvSpPr txBox="1"/>
          <p:nvPr/>
        </p:nvSpPr>
        <p:spPr>
          <a:xfrm>
            <a:off x="762000" y="49530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基于华为云 AgentArts 的多智能体诈骗团伙研判系统</a:t>
            </a:r>
            <a:endParaRPr lang="en-US" sz="1200" noProof="1"/>
          </a:p>
        </p:txBody>
      </p:sp>
      <p:sp>
        <p:nvSpPr>
          <p:cNvPr id="39" name="chip"/>
          <p:cNvSpPr txBox="1"/>
          <p:nvPr/>
        </p:nvSpPr>
        <p:spPr>
          <a:xfrm>
            <a:off x="762000" y="5537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300" kern="0">
                <a:solidFill>
                  <a:srgbClr val="2B5CE6"/>
                </a:solidFill>
                <a:latin typeface="MiSans"/>
                <a:ea typeface="MiSans"/>
              </a:rPr>
              <a:t>宁可放过，绝不冤枉</a:t>
            </a:r>
            <a:endParaRPr lang="en-US" sz="1400" noProof="1"/>
          </a:p>
        </p:txBody>
      </p:sp>
      <p:sp>
        <p:nvSpPr>
          <p:cNvPr id="40" name="chip-note"/>
          <p:cNvSpPr txBox="1"/>
          <p:nvPr/>
        </p:nvSpPr>
        <p:spPr>
          <a:xfrm>
            <a:off x="3556000" y="55626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8FA0BE"/>
                </a:solidFill>
                <a:latin typeface="MiSans"/>
                <a:ea typeface="MiSans"/>
              </a:rPr>
              <a:t>每条指认都挂证据编号 · 证据不够交人工</a:t>
            </a:r>
            <a:endParaRPr lang="en-US" sz="1050" noProof="1"/>
          </a:p>
        </p:txBody>
      </p:sp>
      <p:sp>
        <p:nvSpPr>
          <p:cNvPr id="41" name="foot"/>
          <p:cNvSpPr txBox="1"/>
          <p:nvPr/>
        </p:nvSpPr>
        <p:spPr>
          <a:xfrm>
            <a:off x="762000" y="6375400"/>
            <a:ext cx="609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演示数据均为合成数据 · 系统只读，冻结与报警仅作模拟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02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01 · 场景定位 SCENARIO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一起报案：一句"我被骗了"，背后是成百上千条记录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scene-quote"/>
          <p:cNvSpPr txBox="1"/>
          <p:nvPr/>
        </p:nvSpPr>
        <p:spPr>
          <a:xfrm>
            <a:off x="762000" y="1676400"/>
            <a:ext cx="508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700" noProof="1">
                <a:solidFill>
                  <a:srgbClr val="16233F"/>
                </a:solidFill>
                <a:latin typeface="MiSans"/>
                <a:ea typeface="MiSans"/>
              </a:rPr>
              <a:t>受害人只记得一句话术、一个账号。</a:t>
            </a:r>
            <a:endParaRPr lang="en-US" sz="1700" noProof="1"/>
          </a:p>
          <a:p>
            <a:pPr>
              <a:lnSpc>
                <a:spcPct val="160000"/>
              </a:lnSpc>
            </a:pPr>
            <a:r>
              <a:rPr lang="en-US" sz="1700" noProof="1">
                <a:solidFill>
                  <a:srgbClr val="16233F"/>
                </a:solidFill>
                <a:latin typeface="MiSans"/>
                <a:ea typeface="MiSans"/>
              </a:rPr>
              <a:t>研判员要面对的，是三类系统里散落的全部痕迹。</a:t>
            </a:r>
            <a:endParaRPr lang="en-US" sz="1700" noProof="1"/>
          </a:p>
        </p:txBody>
      </p:sp>
      <p:sp>
        <p:nvSpPr>
          <p:cNvPr id="14" name="scene-flow-label"/>
          <p:cNvSpPr txBox="1"/>
          <p:nvPr/>
        </p:nvSpPr>
        <p:spPr>
          <a:xfrm>
            <a:off x="762000" y="2717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2B5CE6"/>
                </a:solidFill>
                <a:latin typeface="MiSans"/>
                <a:ea typeface="MiSans"/>
              </a:rPr>
              <a:t>研判员的今天</a:t>
            </a:r>
            <a:endParaRPr lang="en-US" sz="1100" noProof="1"/>
          </a:p>
        </p:txBody>
      </p:sp>
      <p:sp>
        <p:nvSpPr>
          <p:cNvPr id="15" name="flow-s1"/>
          <p:cNvSpPr/>
          <p:nvPr/>
        </p:nvSpPr>
        <p:spPr>
          <a:xfrm>
            <a:off x="762000" y="3048000"/>
            <a:ext cx="1117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E"/>
            </a:solidFill>
          </a:ln>
        </p:spPr>
      </p:sp>
      <p:sp>
        <p:nvSpPr>
          <p:cNvPr id="16" name="flow-t1"/>
          <p:cNvSpPr txBox="1"/>
          <p:nvPr/>
        </p:nvSpPr>
        <p:spPr>
          <a:xfrm>
            <a:off x="762000" y="3048000"/>
            <a:ext cx="111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接案</a:t>
            </a:r>
            <a:endParaRPr lang="en-US" sz="1300" noProof="1"/>
          </a:p>
        </p:txBody>
      </p:sp>
      <p:sp>
        <p:nvSpPr>
          <p:cNvPr id="17" name="flow-a1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1879600" y="32893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2700" cap="rnd">
            <a:solidFill>
              <a:srgbClr val="8FA0BE"/>
            </a:solidFill>
            <a:round/>
            <a:tailEnd type="arrow"/>
          </a:ln>
        </p:spPr>
      </p:sp>
      <p:sp>
        <p:nvSpPr>
          <p:cNvPr id="18" name="flow-s2"/>
          <p:cNvSpPr/>
          <p:nvPr/>
        </p:nvSpPr>
        <p:spPr>
          <a:xfrm>
            <a:off x="2184400" y="3048000"/>
            <a:ext cx="1117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E"/>
            </a:solidFill>
          </a:ln>
        </p:spPr>
      </p:sp>
      <p:sp>
        <p:nvSpPr>
          <p:cNvPr id="19" name="flow-t2"/>
          <p:cNvSpPr txBox="1"/>
          <p:nvPr/>
        </p:nvSpPr>
        <p:spPr>
          <a:xfrm>
            <a:off x="2184400" y="3048000"/>
            <a:ext cx="111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调单</a:t>
            </a:r>
            <a:endParaRPr lang="en-US" sz="1300" noProof="1"/>
          </a:p>
        </p:txBody>
      </p:sp>
      <p:sp>
        <p:nvSpPr>
          <p:cNvPr id="20" name="flow-a2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3302000" y="32893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2700" cap="rnd">
            <a:solidFill>
              <a:srgbClr val="8FA0BE"/>
            </a:solidFill>
            <a:round/>
            <a:tailEnd type="arrow"/>
          </a:ln>
        </p:spPr>
      </p:sp>
      <p:sp>
        <p:nvSpPr>
          <p:cNvPr id="21" name="flow-s3"/>
          <p:cNvSpPr/>
          <p:nvPr/>
        </p:nvSpPr>
        <p:spPr>
          <a:xfrm>
            <a:off x="3606800" y="3048000"/>
            <a:ext cx="1117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E"/>
            </a:solidFill>
          </a:ln>
        </p:spPr>
      </p:sp>
      <p:sp>
        <p:nvSpPr>
          <p:cNvPr id="22" name="flow-t3"/>
          <p:cNvSpPr txBox="1"/>
          <p:nvPr/>
        </p:nvSpPr>
        <p:spPr>
          <a:xfrm>
            <a:off x="3606800" y="3048000"/>
            <a:ext cx="111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翻流水</a:t>
            </a:r>
            <a:endParaRPr lang="en-US" sz="1300" noProof="1"/>
          </a:p>
        </p:txBody>
      </p:sp>
      <p:sp>
        <p:nvSpPr>
          <p:cNvPr id="23" name="flow-a3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4724400" y="32893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2700" cap="rnd">
            <a:solidFill>
              <a:srgbClr val="8FA0BE"/>
            </a:solidFill>
            <a:round/>
            <a:tailEnd type="arrow"/>
          </a:ln>
        </p:spPr>
      </p:sp>
      <p:sp>
        <p:nvSpPr>
          <p:cNvPr id="24" name="flow-s4"/>
          <p:cNvSpPr/>
          <p:nvPr/>
        </p:nvSpPr>
        <p:spPr>
          <a:xfrm>
            <a:off x="762000" y="3810000"/>
            <a:ext cx="1117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E"/>
            </a:solidFill>
          </a:ln>
        </p:spPr>
      </p:sp>
      <p:sp>
        <p:nvSpPr>
          <p:cNvPr id="25" name="flow-t4"/>
          <p:cNvSpPr txBox="1"/>
          <p:nvPr/>
        </p:nvSpPr>
        <p:spPr>
          <a:xfrm>
            <a:off x="762000" y="3810000"/>
            <a:ext cx="111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手工画图</a:t>
            </a:r>
            <a:endParaRPr lang="en-US" sz="1300" noProof="1"/>
          </a:p>
        </p:txBody>
      </p:sp>
      <p:sp>
        <p:nvSpPr>
          <p:cNvPr id="26" name="flow-a4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1879600" y="40513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2700" cap="rnd">
            <a:solidFill>
              <a:srgbClr val="8FA0BE"/>
            </a:solidFill>
            <a:round/>
            <a:tailEnd type="arrow"/>
          </a:ln>
        </p:spPr>
      </p:sp>
      <p:sp>
        <p:nvSpPr>
          <p:cNvPr id="27" name="flow-s5"/>
          <p:cNvSpPr/>
          <p:nvPr/>
        </p:nvSpPr>
        <p:spPr>
          <a:xfrm>
            <a:off x="2184400" y="3810000"/>
            <a:ext cx="11176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E"/>
            </a:solidFill>
          </a:ln>
        </p:spPr>
      </p:sp>
      <p:sp>
        <p:nvSpPr>
          <p:cNvPr id="28" name="flow-t5"/>
          <p:cNvSpPr txBox="1"/>
          <p:nvPr/>
        </p:nvSpPr>
        <p:spPr>
          <a:xfrm>
            <a:off x="2184400" y="3810000"/>
            <a:ext cx="111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出报告</a:t>
            </a:r>
            <a:endParaRPr lang="en-US" sz="1300" noProof="1"/>
          </a:p>
        </p:txBody>
      </p:sp>
      <p:sp>
        <p:nvSpPr>
          <p:cNvPr id="29" name="scene-note"/>
          <p:cNvSpPr txBox="1"/>
          <p:nvPr/>
        </p:nvSpPr>
        <p:spPr>
          <a:xfrm>
            <a:off x="762000" y="4648200"/>
            <a:ext cx="5080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400" noProof="1">
                <a:solidFill>
                  <a:srgbClr val="54648A"/>
                </a:solidFill>
                <a:latin typeface="MiSans"/>
                <a:ea typeface="MiSans"/>
              </a:rPr>
              <a:t>证据分散在通话、流水、聊天三套系统里，</a:t>
            </a:r>
            <a:endParaRPr lang="en-US" sz="1400" noProof="1"/>
          </a:p>
          <a:p>
            <a:pPr>
              <a:lnSpc>
                <a:spcPct val="165000"/>
              </a:lnSpc>
            </a:pPr>
            <a:r>
              <a:rPr lang="en-US" sz="1400" noProof="1">
                <a:solidFill>
                  <a:srgbClr val="54648A"/>
                </a:solidFill>
                <a:latin typeface="MiSans"/>
                <a:ea typeface="MiSans"/>
              </a:rPr>
              <a:t>靠人来回翻、手工拼。团伙拆得越散，</a:t>
            </a:r>
            <a:endParaRPr lang="en-US" sz="1400" noProof="1"/>
          </a:p>
          <a:p>
            <a:pPr>
              <a:lnSpc>
                <a:spcPct val="165000"/>
              </a:lnSpc>
            </a:pPr>
            <a:r>
              <a:rPr lang="en-US" sz="1400" noProof="1">
                <a:solidFill>
                  <a:srgbClr val="54648A"/>
                </a:solidFill>
                <a:latin typeface="MiSans"/>
                <a:ea typeface="MiSans"/>
              </a:rPr>
              <a:t>钱骡和洗钱账户藏得越深，越难串回全貌。</a:t>
            </a:r>
            <a:endParaRPr lang="en-US" sz="1400" noProof="1"/>
          </a:p>
        </p:txBody>
      </p:sp>
      <p:sp>
        <p:nvSpPr>
          <p:cNvPr id="30" name="ev-box1"/>
          <p:cNvSpPr/>
          <p:nvPr/>
        </p:nvSpPr>
        <p:spPr>
          <a:xfrm>
            <a:off x="6604000" y="1905000"/>
            <a:ext cx="1651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DFF"/>
            </a:solidFill>
          </a:ln>
        </p:spPr>
      </p:sp>
      <p:sp>
        <p:nvSpPr>
          <p:cNvPr id="31" name="ev-icon1"/>
          <p:cNvSpPr/>
          <p:nvPr>
            <p:extLst>
              <p:ext uri="{F5677B7D-0D2A-4D9B-9A5C-6D8D7D0E5A5D}">
                <pptd:icon encoding="base64url">eyJpY29uTmFtZSI6ImZhczpwaG9uZSJ9</pptd:icon>
              </p:ext>
            </p:extLst>
          </p:nvPr>
        </p:nvSpPr>
        <p:spPr>
          <a:xfrm>
            <a:off x="7264400" y="2082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0" y="25"/>
                </a:moveTo>
                <a:cubicBezTo>
                  <a:pt x="152" y="6"/>
                  <a:pt x="132" y="-4"/>
                  <a:pt x="112" y="1"/>
                </a:cubicBezTo>
                <a:lnTo>
                  <a:pt x="107" y="3"/>
                </a:lnTo>
                <a:cubicBezTo>
                  <a:pt x="42" y="21"/>
                  <a:pt x="-13" y="83"/>
                  <a:pt x="3" y="159"/>
                </a:cubicBezTo>
                <a:cubicBezTo>
                  <a:pt x="40" y="334"/>
                  <a:pt x="178" y="472"/>
                  <a:pt x="353" y="509"/>
                </a:cubicBezTo>
                <a:cubicBezTo>
                  <a:pt x="429" y="525"/>
                  <a:pt x="492" y="470"/>
                  <a:pt x="509" y="405"/>
                </a:cubicBezTo>
                <a:lnTo>
                  <a:pt x="511" y="400"/>
                </a:lnTo>
                <a:cubicBezTo>
                  <a:pt x="516" y="380"/>
                  <a:pt x="506" y="360"/>
                  <a:pt x="487" y="352"/>
                </a:cubicBezTo>
                <a:lnTo>
                  <a:pt x="390" y="311"/>
                </a:lnTo>
                <a:cubicBezTo>
                  <a:pt x="373" y="304"/>
                  <a:pt x="354" y="309"/>
                  <a:pt x="343" y="323"/>
                </a:cubicBezTo>
                <a:lnTo>
                  <a:pt x="304" y="370"/>
                </a:lnTo>
                <a:cubicBezTo>
                  <a:pt x="234" y="335"/>
                  <a:pt x="177" y="277"/>
                  <a:pt x="145" y="205"/>
                </a:cubicBezTo>
                <a:lnTo>
                  <a:pt x="189" y="169"/>
                </a:lnTo>
                <a:cubicBezTo>
                  <a:pt x="203" y="158"/>
                  <a:pt x="208" y="139"/>
                  <a:pt x="201" y="122"/>
                </a:cubicBezTo>
                <a:lnTo>
                  <a:pt x="160" y="25"/>
                </a:lnTo>
                <a:close/>
              </a:path>
            </a:pathLst>
          </a:custGeom>
          <a:solidFill>
            <a:srgbClr val="4A7DFF"/>
          </a:solidFill>
          <a:ln>
            <a:noFill/>
          </a:ln>
        </p:spPr>
      </p:sp>
      <p:sp>
        <p:nvSpPr>
          <p:cNvPr id="32" name="ev-t1"/>
          <p:cNvSpPr txBox="1"/>
          <p:nvPr/>
        </p:nvSpPr>
        <p:spPr>
          <a:xfrm>
            <a:off x="6604000" y="24892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通话详单</a:t>
            </a:r>
            <a:endParaRPr lang="en-US" sz="1300" noProof="1"/>
          </a:p>
        </p:txBody>
      </p:sp>
      <p:sp>
        <p:nvSpPr>
          <p:cNvPr id="33" name="ev-box2"/>
          <p:cNvSpPr/>
          <p:nvPr/>
        </p:nvSpPr>
        <p:spPr>
          <a:xfrm>
            <a:off x="8763000" y="1524000"/>
            <a:ext cx="1651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30C"/>
            </a:solidFill>
          </a:ln>
        </p:spPr>
      </p:sp>
      <p:sp>
        <p:nvSpPr>
          <p:cNvPr id="34" name="ev-icon2"/>
          <p:cNvSpPr/>
          <p:nvPr>
            <p:extLst>
              <p:ext uri="{F5677B7D-0D2A-4D9B-9A5C-6D8D7D0E5A5D}">
                <pptd:icon encoding="base64url">eyJpY29uTmFtZSI6ImZhczptb25leS1iaWxsLXRyYW5zZmVyIn0</pptd:icon>
              </p:ext>
            </p:extLst>
          </p:nvPr>
        </p:nvSpPr>
        <p:spPr>
          <a:xfrm>
            <a:off x="9423400" y="1701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1" y="105"/>
                </a:moveTo>
                <a:cubicBezTo>
                  <a:pt x="22" y="96"/>
                  <a:pt x="22" y="80"/>
                  <a:pt x="31" y="71"/>
                </a:cubicBezTo>
                <a:lnTo>
                  <a:pt x="103" y="-1"/>
                </a:lnTo>
                <a:cubicBezTo>
                  <a:pt x="112" y="-10"/>
                  <a:pt x="128" y="-10"/>
                  <a:pt x="137" y="-1"/>
                </a:cubicBezTo>
                <a:cubicBezTo>
                  <a:pt x="146" y="8"/>
                  <a:pt x="146" y="24"/>
                  <a:pt x="137" y="33"/>
                </a:cubicBezTo>
                <a:lnTo>
                  <a:pt x="106" y="64"/>
                </a:lnTo>
                <a:lnTo>
                  <a:pt x="174" y="64"/>
                </a:lnTo>
                <a:lnTo>
                  <a:pt x="174" y="64"/>
                </a:lnTo>
                <a:lnTo>
                  <a:pt x="512" y="64"/>
                </a:lnTo>
                <a:cubicBezTo>
                  <a:pt x="547" y="64"/>
                  <a:pt x="576" y="93"/>
                  <a:pt x="576" y="128"/>
                </a:cubicBezTo>
                <a:lnTo>
                  <a:pt x="576" y="306"/>
                </a:lnTo>
                <a:lnTo>
                  <a:pt x="571" y="301"/>
                </a:lnTo>
                <a:cubicBezTo>
                  <a:pt x="543" y="273"/>
                  <a:pt x="497" y="273"/>
                  <a:pt x="469" y="301"/>
                </a:cubicBezTo>
                <a:cubicBezTo>
                  <a:pt x="442" y="328"/>
                  <a:pt x="441" y="372"/>
                  <a:pt x="466" y="400"/>
                </a:cubicBezTo>
                <a:lnTo>
                  <a:pt x="534" y="400"/>
                </a:lnTo>
                <a:lnTo>
                  <a:pt x="503" y="369"/>
                </a:lnTo>
                <a:cubicBezTo>
                  <a:pt x="494" y="360"/>
                  <a:pt x="494" y="344"/>
                  <a:pt x="503" y="335"/>
                </a:cubicBezTo>
                <a:cubicBezTo>
                  <a:pt x="512" y="326"/>
                  <a:pt x="528" y="326"/>
                  <a:pt x="537" y="335"/>
                </a:cubicBezTo>
                <a:lnTo>
                  <a:pt x="609" y="407"/>
                </a:lnTo>
                <a:cubicBezTo>
                  <a:pt x="618" y="416"/>
                  <a:pt x="618" y="432"/>
                  <a:pt x="609" y="441"/>
                </a:cubicBezTo>
                <a:lnTo>
                  <a:pt x="537" y="513"/>
                </a:lnTo>
                <a:cubicBezTo>
                  <a:pt x="527" y="522"/>
                  <a:pt x="512" y="522"/>
                  <a:pt x="503" y="513"/>
                </a:cubicBezTo>
                <a:cubicBezTo>
                  <a:pt x="494" y="504"/>
                  <a:pt x="494" y="488"/>
                  <a:pt x="503" y="479"/>
                </a:cubicBezTo>
                <a:lnTo>
                  <a:pt x="534" y="448"/>
                </a:lnTo>
                <a:lnTo>
                  <a:pt x="128" y="448"/>
                </a:lnTo>
                <a:cubicBezTo>
                  <a:pt x="93" y="448"/>
                  <a:pt x="64" y="419"/>
                  <a:pt x="64" y="384"/>
                </a:cubicBezTo>
                <a:lnTo>
                  <a:pt x="64" y="206"/>
                </a:lnTo>
                <a:lnTo>
                  <a:pt x="69" y="211"/>
                </a:lnTo>
                <a:cubicBezTo>
                  <a:pt x="97" y="239"/>
                  <a:pt x="143" y="239"/>
                  <a:pt x="171" y="211"/>
                </a:cubicBezTo>
                <a:cubicBezTo>
                  <a:pt x="198" y="184"/>
                  <a:pt x="199" y="140"/>
                  <a:pt x="174" y="112"/>
                </a:cubicBezTo>
                <a:lnTo>
                  <a:pt x="106" y="112"/>
                </a:lnTo>
                <a:lnTo>
                  <a:pt x="137" y="143"/>
                </a:lnTo>
                <a:cubicBezTo>
                  <a:pt x="146" y="152"/>
                  <a:pt x="146" y="168"/>
                  <a:pt x="137" y="177"/>
                </a:cubicBezTo>
                <a:cubicBezTo>
                  <a:pt x="127" y="186"/>
                  <a:pt x="112" y="186"/>
                  <a:pt x="103" y="177"/>
                </a:cubicBezTo>
                <a:lnTo>
                  <a:pt x="31" y="105"/>
                </a:lnTo>
                <a:close/>
                <a:moveTo>
                  <a:pt x="416" y="256"/>
                </a:moveTo>
                <a:cubicBezTo>
                  <a:pt x="416" y="203"/>
                  <a:pt x="373" y="160"/>
                  <a:pt x="320" y="160"/>
                </a:cubicBezTo>
                <a:cubicBezTo>
                  <a:pt x="267" y="160"/>
                  <a:pt x="224" y="203"/>
                  <a:pt x="224" y="256"/>
                </a:cubicBezTo>
                <a:cubicBezTo>
                  <a:pt x="224" y="309"/>
                  <a:pt x="267" y="352"/>
                  <a:pt x="320" y="352"/>
                </a:cubicBezTo>
                <a:cubicBezTo>
                  <a:pt x="373" y="352"/>
                  <a:pt x="416" y="309"/>
                  <a:pt x="416" y="256"/>
                </a:cubicBezTo>
                <a:close/>
                <a:moveTo>
                  <a:pt x="504" y="192"/>
                </a:moveTo>
                <a:cubicBezTo>
                  <a:pt x="508" y="192"/>
                  <a:pt x="512" y="188"/>
                  <a:pt x="512" y="184"/>
                </a:cubicBezTo>
                <a:lnTo>
                  <a:pt x="512" y="136"/>
                </a:lnTo>
                <a:cubicBezTo>
                  <a:pt x="512" y="132"/>
                  <a:pt x="508" y="128"/>
                  <a:pt x="504" y="128"/>
                </a:cubicBezTo>
                <a:lnTo>
                  <a:pt x="456" y="128"/>
                </a:lnTo>
                <a:cubicBezTo>
                  <a:pt x="452" y="128"/>
                  <a:pt x="448" y="132"/>
                  <a:pt x="449" y="136"/>
                </a:cubicBezTo>
                <a:cubicBezTo>
                  <a:pt x="452" y="165"/>
                  <a:pt x="475" y="188"/>
                  <a:pt x="504" y="192"/>
                </a:cubicBezTo>
                <a:close/>
                <a:moveTo>
                  <a:pt x="136" y="321"/>
                </a:moveTo>
                <a:cubicBezTo>
                  <a:pt x="132" y="320"/>
                  <a:pt x="128" y="324"/>
                  <a:pt x="128" y="328"/>
                </a:cubicBezTo>
                <a:lnTo>
                  <a:pt x="128" y="376"/>
                </a:lnTo>
                <a:cubicBezTo>
                  <a:pt x="128" y="380"/>
                  <a:pt x="132" y="384"/>
                  <a:pt x="136" y="384"/>
                </a:cubicBezTo>
                <a:lnTo>
                  <a:pt x="184" y="384"/>
                </a:lnTo>
                <a:cubicBezTo>
                  <a:pt x="188" y="384"/>
                  <a:pt x="192" y="380"/>
                  <a:pt x="192" y="376"/>
                </a:cubicBezTo>
                <a:cubicBezTo>
                  <a:pt x="188" y="347"/>
                  <a:pt x="165" y="324"/>
                  <a:pt x="136" y="321"/>
                </a:cubicBezTo>
                <a:close/>
              </a:path>
            </a:pathLst>
          </a:custGeom>
          <a:solidFill>
            <a:srgbClr val="E8930C"/>
          </a:solidFill>
          <a:ln>
            <a:noFill/>
          </a:ln>
        </p:spPr>
      </p:sp>
      <p:sp>
        <p:nvSpPr>
          <p:cNvPr id="35" name="ev-t2"/>
          <p:cNvSpPr txBox="1"/>
          <p:nvPr/>
        </p:nvSpPr>
        <p:spPr>
          <a:xfrm>
            <a:off x="8763000" y="21082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资金流水</a:t>
            </a:r>
            <a:endParaRPr lang="en-US" sz="1300" noProof="1"/>
          </a:p>
        </p:txBody>
      </p:sp>
      <p:sp>
        <p:nvSpPr>
          <p:cNvPr id="36" name="ev-box3"/>
          <p:cNvSpPr/>
          <p:nvPr/>
        </p:nvSpPr>
        <p:spPr>
          <a:xfrm>
            <a:off x="8890000" y="3175000"/>
            <a:ext cx="1651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CE6"/>
            </a:solidFill>
          </a:ln>
        </p:spPr>
      </p:sp>
      <p:sp>
        <p:nvSpPr>
          <p:cNvPr id="37" name="ev-icon3"/>
          <p:cNvSpPr/>
          <p:nvPr>
            <p:extLst>
              <p:ext uri="{F5677B7D-0D2A-4D9B-9A5C-6D8D7D0E5A5D}">
                <pptd:icon encoding="base64url">eyJpY29uTmFtZSI6ImZhczpjb21tZW50cyJ9</pptd:icon>
              </p:ext>
            </p:extLst>
          </p:nvPr>
        </p:nvSpPr>
        <p:spPr>
          <a:xfrm>
            <a:off x="9550400" y="3352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2B5CE6"/>
          </a:solidFill>
          <a:ln>
            <a:noFill/>
          </a:ln>
        </p:spPr>
      </p:sp>
      <p:sp>
        <p:nvSpPr>
          <p:cNvPr id="38" name="ev-t3"/>
          <p:cNvSpPr txBox="1"/>
          <p:nvPr/>
        </p:nvSpPr>
        <p:spPr>
          <a:xfrm>
            <a:off x="8890000" y="37592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聊天记录</a:t>
            </a:r>
            <a:endParaRPr lang="en-US" sz="1300" noProof="1"/>
          </a:p>
        </p:txBody>
      </p:sp>
      <p:sp>
        <p:nvSpPr>
          <p:cNvPr id="39" name="ev-link1"/>
          <p:cNvSpPr/>
          <p:nvPr>
            <p:extLst>
              <p:ext uri="{F5677B7D-0D2A-4D9B-9A5C-6D8D7D0E5A5D}">
                <pptd:line encoding="base64url">eyJ2aWV3Qm94IjpbNjAsOTBdLCJwb2ludHMiOiI2MCwwIDMwLDQ1IDAsOTAiLCJjdXJ2ZSI6InNtb290aCJ9</pptd:line>
              </p:ext>
            </p:extLst>
          </p:nvPr>
        </p:nvSpPr>
        <p:spPr>
          <a:xfrm>
            <a:off x="7429500" y="2971800"/>
            <a:ext cx="762000" cy="1143000"/>
          </a:xfrm>
          <a:custGeom>
            <a:avLst/>
            <a:gdLst/>
            <a:ahLst/>
            <a:cxnLst/>
            <a:rect l="l" t="t" r="r" b="b"/>
            <a:pathLst>
              <a:path w="60" h="90">
                <a:moveTo>
                  <a:pt x="60" y="0"/>
                </a:moveTo>
                <a:quadBezTo>
                  <a:pt x="30" y="45"/>
                  <a:pt x="0" y="90"/>
                </a:quadBezTo>
              </a:path>
            </a:pathLst>
          </a:custGeom>
          <a:noFill/>
          <a:ln w="12700" cap="rnd">
            <a:solidFill>
              <a:srgbClr val="C9D6EE"/>
            </a:solidFill>
            <a:prstDash val="dash"/>
            <a:round/>
          </a:ln>
        </p:spPr>
      </p:sp>
      <p:sp>
        <p:nvSpPr>
          <p:cNvPr id="40" name="ev-link2"/>
          <p:cNvSpPr/>
          <p:nvPr>
            <p:extLst>
              <p:ext uri="{F5677B7D-0D2A-4D9B-9A5C-6D8D7D0E5A5D}">
                <pptd:line encoding="base64url">eyJ2aWV3Qm94IjpbNTUsMTIwXSwicG9pbnRzIjoiNTUsMCAyOCw2MCAwLDEyMCIsImN1cnZlIjoic21vb3RoIn0</pptd:line>
              </p:ext>
            </p:extLst>
          </p:nvPr>
        </p:nvSpPr>
        <p:spPr>
          <a:xfrm>
            <a:off x="8191500" y="2590800"/>
            <a:ext cx="698500" cy="1524000"/>
          </a:xfrm>
          <a:custGeom>
            <a:avLst/>
            <a:gdLst/>
            <a:ahLst/>
            <a:cxnLst/>
            <a:rect l="l" t="t" r="r" b="b"/>
            <a:pathLst>
              <a:path w="55" h="120">
                <a:moveTo>
                  <a:pt x="55" y="0"/>
                </a:moveTo>
                <a:quadBezTo>
                  <a:pt x="28" y="60"/>
                  <a:pt x="0" y="120"/>
                </a:quadBezTo>
              </a:path>
            </a:pathLst>
          </a:custGeom>
          <a:noFill/>
          <a:ln w="12700" cap="rnd">
            <a:solidFill>
              <a:srgbClr val="C9D6EE"/>
            </a:solidFill>
            <a:prstDash val="dash"/>
            <a:round/>
          </a:ln>
        </p:spPr>
      </p:sp>
      <p:sp>
        <p:nvSpPr>
          <p:cNvPr id="41" name="ev-link3"/>
          <p:cNvSpPr/>
          <p:nvPr>
            <p:extLst>
              <p:ext uri="{F5677B7D-0D2A-4D9B-9A5C-6D8D7D0E5A5D}">
                <pptd:line encoding="base64url">eyJ2aWV3Qm94IjpbNTUsMjBdLCJwb2ludHMiOiI1NSwxMCAwLDEwIn0</pptd:line>
              </p:ext>
            </p:extLst>
          </p:nvPr>
        </p:nvSpPr>
        <p:spPr>
          <a:xfrm>
            <a:off x="8191500" y="4114800"/>
            <a:ext cx="698500" cy="254000"/>
          </a:xfrm>
          <a:custGeom>
            <a:avLst/>
            <a:gdLst/>
            <a:ahLst/>
            <a:cxnLst/>
            <a:rect l="l" t="t" r="r" b="b"/>
            <a:pathLst>
              <a:path w="55" h="20">
                <a:moveTo>
                  <a:pt x="55" y="10"/>
                </a:moveTo>
                <a:lnTo>
                  <a:pt x="0" y="10"/>
                </a:lnTo>
              </a:path>
            </a:pathLst>
          </a:custGeom>
          <a:noFill/>
          <a:ln w="12700" cap="rnd">
            <a:solidFill>
              <a:srgbClr val="C9D6EE"/>
            </a:solidFill>
            <a:prstDash val="dash"/>
            <a:round/>
          </a:ln>
        </p:spPr>
      </p:sp>
      <p:sp>
        <p:nvSpPr>
          <p:cNvPr id="42" name="ev-center"/>
          <p:cNvSpPr/>
          <p:nvPr/>
        </p:nvSpPr>
        <p:spPr>
          <a:xfrm>
            <a:off x="6604000" y="3810000"/>
            <a:ext cx="1651000" cy="711200"/>
          </a:xfrm>
          <a:prstGeom prst="rect">
            <a:avLst/>
          </a:prstGeom>
          <a:solidFill>
            <a:srgbClr val="FDF0F4"/>
          </a:solidFill>
          <a:ln w="19050">
            <a:solidFill>
              <a:srgbClr val="E5484D"/>
            </a:solidFill>
          </a:ln>
        </p:spPr>
      </p:sp>
      <p:sp>
        <p:nvSpPr>
          <p:cNvPr id="43" name="ev-center-t"/>
          <p:cNvSpPr txBox="1"/>
          <p:nvPr/>
        </p:nvSpPr>
        <p:spPr>
          <a:xfrm>
            <a:off x="6604000" y="3810000"/>
            <a:ext cx="165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E5484D"/>
                </a:solidFill>
                <a:latin typeface="MiSans"/>
                <a:ea typeface="MiSans"/>
              </a:rPr>
              <a:t>手工关系图</a:t>
            </a:r>
            <a:endParaRPr lang="en-US" sz="13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慢 · 易漏 · 难复核</a:t>
            </a:r>
            <a:endParaRPr lang="en-US" sz="1300" noProof="1"/>
          </a:p>
        </p:txBody>
      </p:sp>
      <p:sp>
        <p:nvSpPr>
          <p:cNvPr id="44" name="bottom-bar"/>
          <p:cNvSpPr/>
          <p:nvPr/>
        </p:nvSpPr>
        <p:spPr>
          <a:xfrm>
            <a:off x="762000" y="59690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45" name="bottom-msg"/>
          <p:cNvSpPr txBox="1"/>
          <p:nvPr/>
        </p:nvSpPr>
        <p:spPr>
          <a:xfrm>
            <a:off x="762000" y="6146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16233F"/>
                </a:solidFill>
                <a:latin typeface="MiSans"/>
                <a:ea typeface="MiSans"/>
              </a:rPr>
              <a:t>研判的本质，是在海量记录里把一个被拆散的团伙</a:t>
            </a: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重新拼回来</a:t>
            </a:r>
            <a:endParaRPr lang="en-US" sz="1500" noProof="1"/>
          </a:p>
        </p:txBody>
      </p:sp>
      <p:sp>
        <p:nvSpPr>
          <p:cNvPr id="46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03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02 · 形势数据 CONTEXT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电诈仍是高发犯罪：防线全力运转，研判压力有增无减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n1"/>
          <p:cNvSpPr txBox="1"/>
          <p:nvPr/>
        </p:nvSpPr>
        <p:spPr>
          <a:xfrm>
            <a:off x="762000" y="1625600"/>
            <a:ext cx="254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200" noProof="1">
                <a:solidFill>
                  <a:srgbClr val="2B5CE6"/>
                </a:solidFill>
                <a:latin typeface="Alimama ShuHeiTi"/>
                <a:ea typeface="Alimama ShuHeiTi"/>
              </a:rPr>
              <a:t>25.8 万起</a:t>
            </a:r>
            <a:endParaRPr lang="en-US" sz="4200" noProof="1"/>
          </a:p>
        </p:txBody>
      </p:sp>
      <p:sp>
        <p:nvSpPr>
          <p:cNvPr id="14" name="n1-cap"/>
          <p:cNvSpPr txBox="1"/>
          <p:nvPr/>
        </p:nvSpPr>
        <p:spPr>
          <a:xfrm>
            <a:off x="762000" y="2413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2025 年全国侦破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电信网络诈骗案件</a:t>
            </a:r>
            <a:endParaRPr lang="en-US" sz="1100" noProof="1"/>
          </a:p>
        </p:txBody>
      </p:sp>
      <p:sp>
        <p:nvSpPr>
          <p:cNvPr id="15" name="n2"/>
          <p:cNvSpPr txBox="1"/>
          <p:nvPr/>
        </p:nvSpPr>
        <p:spPr>
          <a:xfrm>
            <a:off x="3556000" y="1625600"/>
            <a:ext cx="254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200" noProof="1">
                <a:solidFill>
                  <a:srgbClr val="2B5CE6"/>
                </a:solidFill>
                <a:latin typeface="Alimama ShuHeiTi"/>
                <a:ea typeface="Alimama ShuHeiTi"/>
              </a:rPr>
              <a:t>36 亿次</a:t>
            </a:r>
            <a:endParaRPr lang="en-US" sz="4200" noProof="1"/>
          </a:p>
        </p:txBody>
      </p:sp>
      <p:sp>
        <p:nvSpPr>
          <p:cNvPr id="16" name="n2-cap"/>
          <p:cNvSpPr txBox="1"/>
          <p:nvPr/>
        </p:nvSpPr>
        <p:spPr>
          <a:xfrm>
            <a:off x="3556000" y="241300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2025 年拦截诈骗电话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另拦截诈骗短信 33 亿条</a:t>
            </a:r>
            <a:endParaRPr lang="en-US" sz="1100" noProof="1"/>
          </a:p>
        </p:txBody>
      </p:sp>
      <p:sp>
        <p:nvSpPr>
          <p:cNvPr id="17" name="n3"/>
          <p:cNvSpPr txBox="1"/>
          <p:nvPr/>
        </p:nvSpPr>
        <p:spPr>
          <a:xfrm>
            <a:off x="6477000" y="1625600"/>
            <a:ext cx="2667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200" noProof="1">
                <a:solidFill>
                  <a:srgbClr val="2B5CE6"/>
                </a:solidFill>
                <a:latin typeface="Alimama ShuHeiTi"/>
                <a:ea typeface="Alimama ShuHeiTi"/>
              </a:rPr>
              <a:t>2170.7 亿元</a:t>
            </a:r>
            <a:endParaRPr lang="en-US" sz="4200" noProof="1"/>
          </a:p>
        </p:txBody>
      </p:sp>
      <p:sp>
        <p:nvSpPr>
          <p:cNvPr id="18" name="n3-cap"/>
          <p:cNvSpPr txBox="1"/>
          <p:nvPr/>
        </p:nvSpPr>
        <p:spPr>
          <a:xfrm>
            <a:off x="6477000" y="2413000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2025 年紧急止付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涉诈资金</a:t>
            </a:r>
            <a:endParaRPr lang="en-US" sz="1100" noProof="1"/>
          </a:p>
        </p:txBody>
      </p:sp>
      <p:sp>
        <p:nvSpPr>
          <p:cNvPr id="19" name="n4"/>
          <p:cNvSpPr txBox="1"/>
          <p:nvPr/>
        </p:nvSpPr>
        <p:spPr>
          <a:xfrm>
            <a:off x="9461500" y="1625600"/>
            <a:ext cx="2159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200" noProof="1">
                <a:solidFill>
                  <a:srgbClr val="2B5CE6"/>
                </a:solidFill>
                <a:latin typeface="Alimama ShuHeiTi"/>
                <a:ea typeface="Alimama ShuHeiTi"/>
              </a:rPr>
              <a:t>674.7 万</a:t>
            </a:r>
            <a:endParaRPr lang="en-US" sz="4200" noProof="1"/>
          </a:p>
        </p:txBody>
      </p:sp>
      <p:sp>
        <p:nvSpPr>
          <p:cNvPr id="20" name="n4-cap"/>
          <p:cNvSpPr txBox="1"/>
          <p:nvPr/>
        </p:nvSpPr>
        <p:spPr>
          <a:xfrm>
            <a:off x="9461500" y="24130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2025 年见面劝阻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人次</a:t>
            </a:r>
            <a:endParaRPr lang="en-US" sz="1100" noProof="1"/>
          </a:p>
        </p:txBody>
      </p:sp>
      <p:sp>
        <p:nvSpPr>
          <p:cNvPr id="21" name="vline"/>
          <p:cNvSpPr/>
          <p:nvPr/>
        </p:nvSpPr>
        <p:spPr>
          <a:xfrm>
            <a:off x="3238500" y="1701800"/>
            <a:ext cx="12700" cy="10668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2" name="vline2"/>
          <p:cNvSpPr/>
          <p:nvPr/>
        </p:nvSpPr>
        <p:spPr>
          <a:xfrm>
            <a:off x="6223000" y="1701800"/>
            <a:ext cx="12700" cy="10668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3" name="vline3"/>
          <p:cNvSpPr/>
          <p:nvPr/>
        </p:nvSpPr>
        <p:spPr>
          <a:xfrm>
            <a:off x="9207500" y="1701800"/>
            <a:ext cx="12700" cy="10668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4" name="mid-line"/>
          <p:cNvSpPr/>
          <p:nvPr/>
        </p:nvSpPr>
        <p:spPr>
          <a:xfrm>
            <a:off x="762000" y="3149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5" name="type-label"/>
          <p:cNvSpPr txBox="1"/>
          <p:nvPr/>
        </p:nvSpPr>
        <p:spPr>
          <a:xfrm>
            <a:off x="762000" y="3378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高发手法：十类剧本占全部电诈案件的 85%</a:t>
            </a:r>
            <a:endParaRPr lang="en-US" sz="1200" noProof="1"/>
          </a:p>
        </p:txBody>
      </p:sp>
      <p:sp>
        <p:nvSpPr>
          <p:cNvPr id="26" name="bar1-label"/>
          <p:cNvSpPr txBox="1"/>
          <p:nvPr/>
        </p:nvSpPr>
        <p:spPr>
          <a:xfrm>
            <a:off x="762000" y="381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刷单返利 · 发案最高</a:t>
            </a:r>
            <a:endParaRPr lang="en-US" sz="1300" noProof="1"/>
          </a:p>
        </p:txBody>
      </p:sp>
      <p:sp>
        <p:nvSpPr>
          <p:cNvPr id="27" name="bar1-bg"/>
          <p:cNvSpPr/>
          <p:nvPr/>
        </p:nvSpPr>
        <p:spPr>
          <a:xfrm>
            <a:off x="3175000" y="3848100"/>
            <a:ext cx="3810000" cy="177800"/>
          </a:xfrm>
          <a:prstGeom prst="rect">
            <a:avLst/>
          </a:prstGeom>
          <a:solidFill>
            <a:srgbClr val="E9F0FC"/>
          </a:solidFill>
          <a:ln>
            <a:noFill/>
          </a:ln>
        </p:spPr>
      </p:sp>
      <p:sp>
        <p:nvSpPr>
          <p:cNvPr id="28" name="bar1-fill"/>
          <p:cNvSpPr/>
          <p:nvPr/>
        </p:nvSpPr>
        <p:spPr>
          <a:xfrm>
            <a:off x="3175000" y="3848100"/>
            <a:ext cx="952500" cy="177800"/>
          </a:xfrm>
          <a:prstGeom prst="rect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29" name="bar1-val"/>
          <p:cNvSpPr txBox="1"/>
          <p:nvPr/>
        </p:nvSpPr>
        <p:spPr>
          <a:xfrm>
            <a:off x="7112000" y="3810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B5CE6"/>
                </a:solidFill>
                <a:latin typeface="MiSans"/>
                <a:ea typeface="MiSans"/>
              </a:rPr>
              <a:t>发案占比 25%</a:t>
            </a:r>
            <a:endParaRPr lang="en-US" sz="1300" noProof="1"/>
          </a:p>
        </p:txBody>
      </p:sp>
      <p:sp>
        <p:nvSpPr>
          <p:cNvPr id="30" name="bar2-label"/>
          <p:cNvSpPr txBox="1"/>
          <p:nvPr/>
        </p:nvSpPr>
        <p:spPr>
          <a:xfrm>
            <a:off x="762000" y="42672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虚假网络投资理财 · 损失最大</a:t>
            </a:r>
            <a:endParaRPr lang="en-US" sz="1300" noProof="1"/>
          </a:p>
        </p:txBody>
      </p:sp>
      <p:sp>
        <p:nvSpPr>
          <p:cNvPr id="31" name="bar2-bg"/>
          <p:cNvSpPr/>
          <p:nvPr/>
        </p:nvSpPr>
        <p:spPr>
          <a:xfrm>
            <a:off x="3175000" y="4305300"/>
            <a:ext cx="3810000" cy="177800"/>
          </a:xfrm>
          <a:prstGeom prst="rect">
            <a:avLst/>
          </a:prstGeom>
          <a:solidFill>
            <a:srgbClr val="E9F0FC"/>
          </a:solidFill>
          <a:ln>
            <a:noFill/>
          </a:ln>
        </p:spPr>
      </p:sp>
      <p:sp>
        <p:nvSpPr>
          <p:cNvPr id="32" name="bar2-fill"/>
          <p:cNvSpPr/>
          <p:nvPr/>
        </p:nvSpPr>
        <p:spPr>
          <a:xfrm>
            <a:off x="3175000" y="4305300"/>
            <a:ext cx="1524000" cy="177800"/>
          </a:xfrm>
          <a:prstGeom prst="rect">
            <a:avLst/>
          </a:prstGeom>
          <a:solidFill>
            <a:srgbClr val="E5484D"/>
          </a:solidFill>
          <a:ln>
            <a:noFill/>
          </a:ln>
        </p:spPr>
      </p:sp>
      <p:sp>
        <p:nvSpPr>
          <p:cNvPr id="33" name="bar2-val"/>
          <p:cNvSpPr txBox="1"/>
          <p:nvPr/>
        </p:nvSpPr>
        <p:spPr>
          <a:xfrm>
            <a:off x="7112000" y="42672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E5484D"/>
                </a:solidFill>
                <a:latin typeface="MiSans"/>
                <a:ea typeface="MiSans"/>
              </a:rPr>
              <a:t>损失占比约 40%</a:t>
            </a:r>
            <a:endParaRPr lang="en-US" sz="1300" noProof="1"/>
          </a:p>
        </p:txBody>
      </p:sp>
      <p:sp>
        <p:nvSpPr>
          <p:cNvPr id="34" name="bar-note"/>
          <p:cNvSpPr txBox="1"/>
          <p:nvPr/>
        </p:nvSpPr>
        <p:spPr>
          <a:xfrm>
            <a:off x="762000" y="4724400"/>
            <a:ext cx="838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百万级、千万级损失案件多属虚假投资理财类；冒充客服、冒充公检法等剧本持续翻新。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自 2025 年 10 月起，全国电诈发案已连续 8 个月同比下降，但案件仍然多发高发。</a:t>
            </a:r>
            <a:endParaRPr lang="en-US" sz="1100" noProof="1"/>
          </a:p>
        </p:txBody>
      </p:sp>
      <p:sp>
        <p:nvSpPr>
          <p:cNvPr id="35" name="trend-label"/>
          <p:cNvSpPr txBox="1"/>
          <p:nvPr/>
        </p:nvSpPr>
        <p:spPr>
          <a:xfrm>
            <a:off x="762000" y="5435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破获量仍在高位</a:t>
            </a:r>
            <a:endParaRPr lang="en-US" sz="1200" noProof="1"/>
          </a:p>
        </p:txBody>
      </p:sp>
      <p:sp>
        <p:nvSpPr>
          <p:cNvPr id="36" name="trend-t"/>
          <p:cNvSpPr txBox="1"/>
          <p:nvPr/>
        </p:nvSpPr>
        <p:spPr>
          <a:xfrm>
            <a:off x="762000" y="5715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16233F"/>
                </a:solidFill>
                <a:latin typeface="MiSans"/>
                <a:ea typeface="MiSans"/>
              </a:rPr>
              <a:t>2024 年破获 </a:t>
            </a:r>
            <a:r>
              <a:rPr lang="en-US" sz="1400" noProof="1" b="1">
                <a:solidFill>
                  <a:srgbClr val="4A7DFF"/>
                </a:solidFill>
                <a:latin typeface="MiSans"/>
                <a:ea typeface="MiSans"/>
              </a:rPr>
              <a:t>29.4 万起</a:t>
            </a:r>
            <a:r>
              <a:rPr lang="en-US" sz="1400" noProof="1">
                <a:solidFill>
                  <a:srgbClr val="16233F"/>
                </a:solidFill>
                <a:latin typeface="MiSans"/>
                <a:ea typeface="MiSans"/>
              </a:rPr>
              <a:t> → 2025 年侦破 </a:t>
            </a:r>
            <a:r>
              <a:rPr lang="en-US" sz="1400" noProof="1" b="1">
                <a:solidFill>
                  <a:srgbClr val="4A7DFF"/>
                </a:solidFill>
                <a:latin typeface="MiSans"/>
                <a:ea typeface="MiSans"/>
              </a:rPr>
              <a:t>25.8 万起</a:t>
            </a:r>
            <a:r>
              <a:rPr lang="en-US" sz="1400" noProof="1">
                <a:solidFill>
                  <a:srgbClr val="16233F"/>
                </a:solidFill>
                <a:latin typeface="MiSans"/>
                <a:ea typeface="MiSans"/>
              </a:rPr>
              <a:t>，单案背后都是一个待拆解的团伙网络</a:t>
            </a:r>
            <a:endParaRPr lang="en-US" sz="1400" noProof="1"/>
          </a:p>
        </p:txBody>
      </p:sp>
      <p:sp>
        <p:nvSpPr>
          <p:cNvPr id="37" name="src"/>
          <p:cNvSpPr txBox="1"/>
          <p:nvPr/>
        </p:nvSpPr>
        <p:spPr>
          <a:xfrm>
            <a:off x="762000" y="6299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来源：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公安部新闻发布会（2026-01-08）</a:t>
            </a: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、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湖南省公安厅转载通报</a:t>
            </a: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、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公安部刑侦局发布会（2026-06-12）</a:t>
            </a: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、</a:t>
            </a:r>
            <a:r>
              <a:rPr lang="en-US" sz="1000" noProof="1" u="sng">
                <a:solidFill>
                  <a:srgbClr val="0563C1"/>
                </a:solidFill>
                <a:latin typeface="MiSans"/>
                <a:ea typeface="MiSans"/>
                <a:hlinkClick r:id="rId5"/>
              </a:rPr>
              <a:t>央视网（2025-06-16）</a:t>
            </a:r>
            <a:endParaRPr lang="en-US" sz="1000" noProof="1"/>
          </a:p>
        </p:txBody>
      </p:sp>
      <p:sp>
        <p:nvSpPr>
          <p:cNvPr id="38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04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03 · 产品来源 ORIGIN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产品从哪里来：一条"互相核对"的思路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path-line"/>
          <p:cNvSpPr/>
          <p:nvPr>
            <p:extLst>
              <p:ext uri="{F5677B7D-0D2A-4D9B-9A5C-6D8D7D0E5A5D}">
                <pptd:line encoding="base64url">eyJ2aWV3Qm94IjpbNzYwLDRdLCJwb2ludHMiOiIwLDIgNzYwLDIifQ</pptd:line>
              </p:ext>
            </p:extLst>
          </p:nvPr>
        </p:nvSpPr>
        <p:spPr>
          <a:xfrm>
            <a:off x="1143000" y="2603500"/>
            <a:ext cx="9652000" cy="50800"/>
          </a:xfrm>
          <a:custGeom>
            <a:avLst/>
            <a:gdLst/>
            <a:ahLst/>
            <a:cxnLst/>
            <a:rect l="l" t="t" r="r" b="b"/>
            <a:pathLst>
              <a:path w="760" h="4">
                <a:moveTo>
                  <a:pt x="0" y="2"/>
                </a:moveTo>
                <a:lnTo>
                  <a:pt x="760" y="2"/>
                </a:lnTo>
              </a:path>
            </a:pathLst>
          </a:custGeom>
          <a:noFill/>
          <a:ln w="12700" cap="rnd">
            <a:solidFill>
              <a:srgbClr val="C9D6EE"/>
            </a:solidFill>
            <a:round/>
          </a:ln>
        </p:spPr>
      </p:sp>
      <p:sp>
        <p:nvSpPr>
          <p:cNvPr id="14" name="node1"/>
          <p:cNvSpPr/>
          <p:nvPr/>
        </p:nvSpPr>
        <p:spPr>
          <a:xfrm>
            <a:off x="1066800" y="2527300"/>
            <a:ext cx="203200" cy="203200"/>
          </a:xfrm>
          <a:prstGeom prst="diamond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15" name="node2"/>
          <p:cNvSpPr/>
          <p:nvPr/>
        </p:nvSpPr>
        <p:spPr>
          <a:xfrm>
            <a:off x="3987800" y="2527300"/>
            <a:ext cx="203200" cy="203200"/>
          </a:xfrm>
          <a:prstGeom prst="diamond">
            <a:avLst/>
          </a:prstGeom>
          <a:solidFill>
            <a:srgbClr val="4A7DFF"/>
          </a:solidFill>
          <a:ln>
            <a:noFill/>
          </a:ln>
        </p:spPr>
      </p:sp>
      <p:sp>
        <p:nvSpPr>
          <p:cNvPr id="16" name="node3"/>
          <p:cNvSpPr/>
          <p:nvPr/>
        </p:nvSpPr>
        <p:spPr>
          <a:xfrm>
            <a:off x="6908800" y="2527300"/>
            <a:ext cx="203200" cy="203200"/>
          </a:xfrm>
          <a:prstGeom prst="diamond">
            <a:avLst/>
          </a:prstGeom>
          <a:solidFill>
            <a:srgbClr val="E8930C"/>
          </a:solidFill>
          <a:ln>
            <a:noFill/>
          </a:ln>
        </p:spPr>
      </p:sp>
      <p:sp>
        <p:nvSpPr>
          <p:cNvPr id="17" name="node4"/>
          <p:cNvSpPr/>
          <p:nvPr/>
        </p:nvSpPr>
        <p:spPr>
          <a:xfrm>
            <a:off x="9829800" y="2527300"/>
            <a:ext cx="203200" cy="203200"/>
          </a:xfrm>
          <a:prstGeom prst="diamond">
            <a:avLst/>
          </a:prstGeom>
          <a:solidFill>
            <a:srgbClr val="E5484D"/>
          </a:solidFill>
          <a:ln>
            <a:noFill/>
          </a:ln>
        </p:spPr>
      </p:sp>
      <p:sp>
        <p:nvSpPr>
          <p:cNvPr id="18" name="s1-tag"/>
          <p:cNvSpPr txBox="1"/>
          <p:nvPr/>
        </p:nvSpPr>
        <p:spPr>
          <a:xfrm>
            <a:off x="762000" y="1905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2B5CE6"/>
                </a:solidFill>
                <a:latin typeface="MiSans"/>
                <a:ea typeface="MiSans"/>
              </a:rPr>
              <a:t>① 赛题命题</a:t>
            </a:r>
            <a:endParaRPr lang="en-US" sz="1500" noProof="1"/>
          </a:p>
        </p:txBody>
      </p:sp>
      <p:sp>
        <p:nvSpPr>
          <p:cNvPr id="19" name="s1-body"/>
          <p:cNvSpPr txBox="1"/>
          <p:nvPr/>
        </p:nvSpPr>
        <p:spPr>
          <a:xfrm>
            <a:off x="762000" y="2997200"/>
            <a:ext cx="228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华为 ICT 创新赛赛题 2：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用智能体解决生活生产具体问题，鼓励「行业赋能 × 多 Agent 协同」。</a:t>
            </a:r>
            <a:endParaRPr lang="en-US" sz="1300" noProof="1"/>
          </a:p>
        </p:txBody>
      </p:sp>
      <p:sp>
        <p:nvSpPr>
          <p:cNvPr id="20" name="s2-tag"/>
          <p:cNvSpPr txBox="1"/>
          <p:nvPr/>
        </p:nvSpPr>
        <p:spPr>
          <a:xfrm>
            <a:off x="3683000" y="1905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4A7DFF"/>
                </a:solidFill>
                <a:latin typeface="MiSans"/>
                <a:ea typeface="MiSans"/>
              </a:rPr>
              <a:t>② 一线痛点</a:t>
            </a:r>
            <a:endParaRPr lang="en-US" sz="1500" noProof="1"/>
          </a:p>
        </p:txBody>
      </p:sp>
      <p:sp>
        <p:nvSpPr>
          <p:cNvPr id="21" name="s2-body"/>
          <p:cNvSpPr txBox="1"/>
          <p:nvPr/>
        </p:nvSpPr>
        <p:spPr>
          <a:xfrm>
            <a:off x="3683000" y="2997200"/>
            <a:ext cx="228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反诈研判证据散在三类系统，人工串并慢；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且误判一个正常人的代价极高。</a:t>
            </a:r>
            <a:endParaRPr lang="en-US" sz="1300" noProof="1"/>
          </a:p>
        </p:txBody>
      </p:sp>
      <p:sp>
        <p:nvSpPr>
          <p:cNvPr id="22" name="s3-tag"/>
          <p:cNvSpPr txBox="1"/>
          <p:nvPr/>
        </p:nvSpPr>
        <p:spPr>
          <a:xfrm>
            <a:off x="6604000" y="1905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E8930C"/>
                </a:solidFill>
                <a:latin typeface="MiSans"/>
                <a:ea typeface="MiSans"/>
              </a:rPr>
              <a:t>③ 关键洞察</a:t>
            </a:r>
            <a:endParaRPr lang="en-US" sz="1500" noProof="1"/>
          </a:p>
        </p:txBody>
      </p:sp>
      <p:sp>
        <p:nvSpPr>
          <p:cNvPr id="23" name="s3-body"/>
          <p:cNvSpPr txBox="1"/>
          <p:nvPr/>
        </p:nvSpPr>
        <p:spPr>
          <a:xfrm>
            <a:off x="6604000" y="2997200"/>
            <a:ext cx="228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话术、资金、通信各自都不足以定案，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必须交叉印证才敢指认。</a:t>
            </a:r>
            <a:endParaRPr lang="en-US" sz="1300" noProof="1"/>
          </a:p>
        </p:txBody>
      </p:sp>
      <p:sp>
        <p:nvSpPr>
          <p:cNvPr id="24" name="s4-tag"/>
          <p:cNvSpPr txBox="1"/>
          <p:nvPr/>
        </p:nvSpPr>
        <p:spPr>
          <a:xfrm>
            <a:off x="9525000" y="1905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E5484D"/>
                </a:solidFill>
                <a:latin typeface="MiSans"/>
                <a:ea typeface="MiSans"/>
              </a:rPr>
              <a:t>④ 产品成形</a:t>
            </a:r>
            <a:endParaRPr lang="en-US" sz="1500" noProof="1"/>
          </a:p>
        </p:txBody>
      </p:sp>
      <p:sp>
        <p:nvSpPr>
          <p:cNvPr id="25" name="s4-body"/>
          <p:cNvSpPr txBox="1"/>
          <p:nvPr/>
        </p:nvSpPr>
        <p:spPr>
          <a:xfrm>
            <a:off x="9525000" y="2997200"/>
            <a:ext cx="203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六个 AI 侦探分工办案，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审判官把守证据关，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证据不够就交人工。</a:t>
            </a:r>
            <a:endParaRPr lang="en-US" sz="1300" noProof="1"/>
          </a:p>
        </p:txBody>
      </p:sp>
      <p:sp>
        <p:nvSpPr>
          <p:cNvPr id="26" name="stmt-line"/>
          <p:cNvSpPr/>
          <p:nvPr/>
        </p:nvSpPr>
        <p:spPr>
          <a:xfrm>
            <a:off x="762000" y="50292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7" name="stmt"/>
          <p:cNvSpPr txBox="1"/>
          <p:nvPr/>
        </p:nvSpPr>
        <p:spPr>
          <a:xfrm>
            <a:off x="762000" y="5308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60000"/>
              </a:lnSpc>
            </a:pPr>
            <a:r>
              <a:rPr lang="en-US" sz="1700" noProof="1">
                <a:solidFill>
                  <a:srgbClr val="16233F"/>
                </a:solidFill>
                <a:latin typeface="MiSans"/>
                <a:ea typeface="MiSans"/>
              </a:rPr>
              <a:t>不是给研判流程加一个 AI 问答框，</a:t>
            </a:r>
            <a:endParaRPr lang="en-US" sz="1700" noProof="1"/>
          </a:p>
          <a:p>
            <a:pPr algn="ctr">
              <a:lnSpc>
                <a:spcPct val="160000"/>
              </a:lnSpc>
            </a:pPr>
            <a:r>
              <a:rPr lang="en-US" sz="1700" noProof="1">
                <a:solidFill>
                  <a:srgbClr val="16233F"/>
                </a:solidFill>
                <a:latin typeface="MiSans"/>
                <a:ea typeface="MiSans"/>
              </a:rPr>
              <a:t>而是把</a:t>
            </a:r>
            <a:r>
              <a:rPr lang="en-US" sz="1700" noProof="1" b="1">
                <a:solidFill>
                  <a:srgbClr val="2B5CE6"/>
                </a:solidFill>
                <a:latin typeface="MiSans"/>
                <a:ea typeface="MiSans"/>
              </a:rPr>
              <a:t>「互相核对」的办案方法本身</a:t>
            </a:r>
            <a:r>
              <a:rPr lang="en-US" sz="1700" noProof="1">
                <a:solidFill>
                  <a:srgbClr val="16233F"/>
                </a:solidFill>
                <a:latin typeface="MiSans"/>
                <a:ea typeface="MiSans"/>
              </a:rPr>
              <a:t>交给一群 AI 来执行</a:t>
            </a:r>
            <a:endParaRPr lang="en-US" sz="1700" noProof="1"/>
          </a:p>
        </p:txBody>
      </p:sp>
      <p:sp>
        <p:nvSpPr>
          <p:cNvPr id="28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05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04 · 用户与痛点 USERS &amp; PAINS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谁在用，痛在哪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u-label"/>
          <p:cNvSpPr txBox="1"/>
          <p:nvPr/>
        </p:nvSpPr>
        <p:spPr>
          <a:xfrm>
            <a:off x="762000" y="1676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目标用户</a:t>
            </a:r>
            <a:endParaRPr lang="en-US" sz="1200" noProof="1"/>
          </a:p>
        </p:txBody>
      </p:sp>
      <p:sp>
        <p:nvSpPr>
          <p:cNvPr id="14" name="u1-box"/>
          <p:cNvSpPr/>
          <p:nvPr/>
        </p:nvSpPr>
        <p:spPr>
          <a:xfrm>
            <a:off x="762000" y="2057400"/>
            <a:ext cx="40640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CE6"/>
            </a:solidFill>
          </a:ln>
        </p:spPr>
      </p:sp>
      <p:sp>
        <p:nvSpPr>
          <p:cNvPr id="15" name="u1-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1016000" y="231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2B5CE6"/>
          </a:solidFill>
          <a:ln>
            <a:noFill/>
          </a:ln>
        </p:spPr>
      </p:sp>
      <p:sp>
        <p:nvSpPr>
          <p:cNvPr id="16" name="u1-title"/>
          <p:cNvSpPr txBox="1"/>
          <p:nvPr/>
        </p:nvSpPr>
        <p:spPr>
          <a:xfrm>
            <a:off x="1574800" y="23114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6233F"/>
                </a:solidFill>
                <a:latin typeface="MiSans"/>
                <a:ea typeface="MiSans"/>
              </a:rPr>
              <a:t>公安反诈专班研判员</a:t>
            </a:r>
            <a:endParaRPr lang="en-US" sz="1600" noProof="1"/>
          </a:p>
        </p:txBody>
      </p:sp>
      <p:sp>
        <p:nvSpPr>
          <p:cNvPr id="17" name="u1-tag"/>
          <p:cNvSpPr txBox="1"/>
          <p:nvPr/>
        </p:nvSpPr>
        <p:spPr>
          <a:xfrm>
            <a:off x="1574800" y="26416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5CE6"/>
                </a:solidFill>
                <a:latin typeface="MiSans"/>
                <a:ea typeface="MiSans"/>
              </a:rPr>
              <a:t>主攻场景</a:t>
            </a:r>
            <a:endParaRPr lang="en-US" sz="1100" noProof="1"/>
          </a:p>
        </p:txBody>
      </p:sp>
      <p:sp>
        <p:nvSpPr>
          <p:cNvPr id="18" name="u1-body"/>
          <p:cNvSpPr txBox="1"/>
          <p:nvPr/>
        </p:nvSpPr>
        <p:spPr>
          <a:xfrm>
            <a:off x="1016000" y="3022600"/>
            <a:ext cx="355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接案后的串并分析、团伙成员研判、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证据链梳理与报告复核</a:t>
            </a:r>
            <a:endParaRPr lang="en-US" sz="1200" noProof="1"/>
          </a:p>
        </p:txBody>
      </p:sp>
      <p:sp>
        <p:nvSpPr>
          <p:cNvPr id="19" name="u2-box"/>
          <p:cNvSpPr/>
          <p:nvPr/>
        </p:nvSpPr>
        <p:spPr>
          <a:xfrm>
            <a:off x="762000" y="3886200"/>
            <a:ext cx="40640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E"/>
            </a:solidFill>
          </a:ln>
        </p:spPr>
      </p:sp>
      <p:sp>
        <p:nvSpPr>
          <p:cNvPr id="20" name="u2-icon"/>
          <p:cNvSpPr/>
          <p:nvPr>
            <p:extLst>
              <p:ext uri="{F5677B7D-0D2A-4D9B-9A5C-6D8D7D0E5A5D}">
                <pptd:icon encoding="base64url">eyJpY29uTmFtZSI6ImZhczpidWlsZGluZy1jb2x1bW5zIn0</pptd:icon>
              </p:ext>
            </p:extLst>
          </p:nvPr>
        </p:nvSpPr>
        <p:spPr>
          <a:xfrm>
            <a:off x="1016000" y="414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72" y="20"/>
                </a:moveTo>
                <a:cubicBezTo>
                  <a:pt x="262" y="15"/>
                  <a:pt x="250" y="15"/>
                  <a:pt x="240" y="20"/>
                </a:cubicBezTo>
                <a:lnTo>
                  <a:pt x="16" y="148"/>
                </a:lnTo>
                <a:cubicBezTo>
                  <a:pt x="3" y="155"/>
                  <a:pt x="-3" y="170"/>
                  <a:pt x="1" y="184"/>
                </a:cubicBezTo>
                <a:cubicBezTo>
                  <a:pt x="5" y="198"/>
                  <a:pt x="18" y="208"/>
                  <a:pt x="32" y="208"/>
                </a:cubicBezTo>
                <a:lnTo>
                  <a:pt x="64" y="208"/>
                </a:lnTo>
                <a:lnTo>
                  <a:pt x="64" y="416"/>
                </a:lnTo>
                <a:lnTo>
                  <a:pt x="64" y="416"/>
                </a:lnTo>
                <a:lnTo>
                  <a:pt x="13" y="454"/>
                </a:lnTo>
                <a:cubicBezTo>
                  <a:pt x="5" y="460"/>
                  <a:pt x="0" y="470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70"/>
                  <a:pt x="507" y="460"/>
                  <a:pt x="499" y="454"/>
                </a:cubicBezTo>
                <a:lnTo>
                  <a:pt x="448" y="416"/>
                </a:lnTo>
                <a:lnTo>
                  <a:pt x="448" y="208"/>
                </a:lnTo>
                <a:lnTo>
                  <a:pt x="480" y="208"/>
                </a:lnTo>
                <a:cubicBezTo>
                  <a:pt x="495" y="208"/>
                  <a:pt x="507" y="198"/>
                  <a:pt x="511" y="184"/>
                </a:cubicBezTo>
                <a:cubicBezTo>
                  <a:pt x="515" y="170"/>
                  <a:pt x="508" y="155"/>
                  <a:pt x="496" y="148"/>
                </a:cubicBezTo>
                <a:lnTo>
                  <a:pt x="272" y="20"/>
                </a:lnTo>
                <a:close/>
                <a:moveTo>
                  <a:pt x="400" y="208"/>
                </a:moveTo>
                <a:lnTo>
                  <a:pt x="400" y="416"/>
                </a:lnTo>
                <a:lnTo>
                  <a:pt x="336" y="416"/>
                </a:lnTo>
                <a:lnTo>
                  <a:pt x="336" y="208"/>
                </a:lnTo>
                <a:lnTo>
                  <a:pt x="400" y="208"/>
                </a:lnTo>
                <a:close/>
                <a:moveTo>
                  <a:pt x="288" y="208"/>
                </a:moveTo>
                <a:lnTo>
                  <a:pt x="288" y="416"/>
                </a:lnTo>
                <a:lnTo>
                  <a:pt x="224" y="416"/>
                </a:lnTo>
                <a:lnTo>
                  <a:pt x="224" y="208"/>
                </a:lnTo>
                <a:lnTo>
                  <a:pt x="288" y="208"/>
                </a:lnTo>
                <a:close/>
                <a:moveTo>
                  <a:pt x="176" y="208"/>
                </a:moveTo>
                <a:lnTo>
                  <a:pt x="176" y="416"/>
                </a:lnTo>
                <a:lnTo>
                  <a:pt x="112" y="416"/>
                </a:lnTo>
                <a:lnTo>
                  <a:pt x="112" y="208"/>
                </a:lnTo>
                <a:lnTo>
                  <a:pt x="176" y="208"/>
                </a:lnTo>
                <a:close/>
                <a:moveTo>
                  <a:pt x="256" y="96"/>
                </a:moveTo>
                <a:cubicBezTo>
                  <a:pt x="274" y="96"/>
                  <a:pt x="288" y="110"/>
                  <a:pt x="288" y="128"/>
                </a:cubicBezTo>
                <a:cubicBezTo>
                  <a:pt x="288" y="146"/>
                  <a:pt x="274" y="160"/>
                  <a:pt x="256" y="160"/>
                </a:cubicBezTo>
                <a:cubicBezTo>
                  <a:pt x="238" y="160"/>
                  <a:pt x="224" y="146"/>
                  <a:pt x="224" y="128"/>
                </a:cubicBezTo>
                <a:cubicBezTo>
                  <a:pt x="224" y="110"/>
                  <a:pt x="238" y="96"/>
                  <a:pt x="256" y="96"/>
                </a:cubicBezTo>
                <a:close/>
              </a:path>
            </a:pathLst>
          </a:custGeom>
          <a:solidFill>
            <a:srgbClr val="4A7DFF"/>
          </a:solidFill>
          <a:ln>
            <a:noFill/>
          </a:ln>
        </p:spPr>
      </p:sp>
      <p:sp>
        <p:nvSpPr>
          <p:cNvPr id="21" name="u2-title"/>
          <p:cNvSpPr txBox="1"/>
          <p:nvPr/>
        </p:nvSpPr>
        <p:spPr>
          <a:xfrm>
            <a:off x="1574800" y="41402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6233F"/>
                </a:solidFill>
                <a:latin typeface="MiSans"/>
                <a:ea typeface="MiSans"/>
              </a:rPr>
              <a:t>银行反诈中心分析员</a:t>
            </a:r>
            <a:endParaRPr lang="en-US" sz="1600" noProof="1"/>
          </a:p>
        </p:txBody>
      </p:sp>
      <p:sp>
        <p:nvSpPr>
          <p:cNvPr id="22" name="u2-tag"/>
          <p:cNvSpPr txBox="1"/>
          <p:nvPr/>
        </p:nvSpPr>
        <p:spPr>
          <a:xfrm>
            <a:off x="1574800" y="4470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4A7DFF"/>
                </a:solidFill>
                <a:latin typeface="MiSans"/>
                <a:ea typeface="MiSans"/>
              </a:rPr>
              <a:t>延伸场景</a:t>
            </a:r>
            <a:endParaRPr lang="en-US" sz="1100" noProof="1"/>
          </a:p>
        </p:txBody>
      </p:sp>
      <p:sp>
        <p:nvSpPr>
          <p:cNvPr id="23" name="u2-body"/>
          <p:cNvSpPr txBox="1"/>
          <p:nvPr/>
        </p:nvSpPr>
        <p:spPr>
          <a:xfrm>
            <a:off x="1016000" y="4851400"/>
            <a:ext cx="355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涉案账户关联排查、可疑资金链路复核、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风控名单的证据化整理</a:t>
            </a:r>
            <a:endParaRPr lang="en-US" sz="1200" noProof="1"/>
          </a:p>
        </p:txBody>
      </p:sp>
      <p:sp>
        <p:nvSpPr>
          <p:cNvPr id="24" name="p-label"/>
          <p:cNvSpPr txBox="1"/>
          <p:nvPr/>
        </p:nvSpPr>
        <p:spPr>
          <a:xfrm>
            <a:off x="5461000" y="1676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需求痛点</a:t>
            </a:r>
            <a:endParaRPr lang="en-US" sz="1200" noProof="1"/>
          </a:p>
        </p:txBody>
      </p:sp>
      <p:sp>
        <p:nvSpPr>
          <p:cNvPr id="25" name="p1-num"/>
          <p:cNvSpPr txBox="1"/>
          <p:nvPr/>
        </p:nvSpPr>
        <p:spPr>
          <a:xfrm>
            <a:off x="5461000" y="21082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2B5CE6"/>
                </a:solidFill>
                <a:latin typeface="Alimama ShuHeiTi"/>
                <a:ea typeface="Alimama ShuHeiTi"/>
              </a:rPr>
              <a:t>01</a:t>
            </a:r>
            <a:endParaRPr lang="en-US" sz="3000" noProof="1"/>
          </a:p>
        </p:txBody>
      </p:sp>
      <p:sp>
        <p:nvSpPr>
          <p:cNvPr id="26" name="p1-title"/>
          <p:cNvSpPr txBox="1"/>
          <p:nvPr/>
        </p:nvSpPr>
        <p:spPr>
          <a:xfrm>
            <a:off x="6350000" y="2133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证据分散，靠人工串</a:t>
            </a:r>
            <a:endParaRPr lang="en-US" sz="1500" noProof="1"/>
          </a:p>
        </p:txBody>
      </p:sp>
      <p:sp>
        <p:nvSpPr>
          <p:cNvPr id="27" name="p1-body"/>
          <p:cNvSpPr txBox="1"/>
          <p:nvPr/>
        </p:nvSpPr>
        <p:spPr>
          <a:xfrm>
            <a:off x="6350000" y="24384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通话、流水、聊天分属不同系统，研判员来回翻记录、手工画关系图</a:t>
            </a:r>
            <a:endParaRPr lang="en-US" sz="1200" noProof="1"/>
          </a:p>
        </p:txBody>
      </p:sp>
      <p:sp>
        <p:nvSpPr>
          <p:cNvPr id="28" name="p1-line"/>
          <p:cNvSpPr/>
          <p:nvPr/>
        </p:nvSpPr>
        <p:spPr>
          <a:xfrm>
            <a:off x="5461000" y="3048000"/>
            <a:ext cx="5969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9" name="p2-num"/>
          <p:cNvSpPr txBox="1"/>
          <p:nvPr/>
        </p:nvSpPr>
        <p:spPr>
          <a:xfrm>
            <a:off x="5461000" y="32512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4A7DFF"/>
                </a:solidFill>
                <a:latin typeface="Alimama ShuHeiTi"/>
                <a:ea typeface="Alimama ShuHeiTi"/>
              </a:rPr>
              <a:t>02</a:t>
            </a:r>
            <a:endParaRPr lang="en-US" sz="3000" noProof="1"/>
          </a:p>
        </p:txBody>
      </p:sp>
      <p:sp>
        <p:nvSpPr>
          <p:cNvPr id="30" name="p2-title"/>
          <p:cNvSpPr txBox="1"/>
          <p:nvPr/>
        </p:nvSpPr>
        <p:spPr>
          <a:xfrm>
            <a:off x="6350000" y="3276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团伙拆得越散，越难定</a:t>
            </a:r>
            <a:endParaRPr lang="en-US" sz="1500" noProof="1"/>
          </a:p>
        </p:txBody>
      </p:sp>
      <p:sp>
        <p:nvSpPr>
          <p:cNvPr id="31" name="p2-body"/>
          <p:cNvSpPr txBox="1"/>
          <p:nvPr/>
        </p:nvSpPr>
        <p:spPr>
          <a:xfrm>
            <a:off x="6350000" y="35814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话务、钱骡、洗钱账户层层隔离，最难的是把外围角色拼回团伙全貌</a:t>
            </a:r>
            <a:endParaRPr lang="en-US" sz="1200" noProof="1"/>
          </a:p>
        </p:txBody>
      </p:sp>
      <p:sp>
        <p:nvSpPr>
          <p:cNvPr id="32" name="p2-line"/>
          <p:cNvSpPr/>
          <p:nvPr/>
        </p:nvSpPr>
        <p:spPr>
          <a:xfrm>
            <a:off x="5461000" y="4191000"/>
            <a:ext cx="5969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33" name="p3-num"/>
          <p:cNvSpPr txBox="1"/>
          <p:nvPr/>
        </p:nvSpPr>
        <p:spPr>
          <a:xfrm>
            <a:off x="5461000" y="43942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E5484D"/>
                </a:solidFill>
                <a:latin typeface="Alimama ShuHeiTi"/>
                <a:ea typeface="Alimama ShuHeiTi"/>
              </a:rPr>
              <a:t>03</a:t>
            </a:r>
            <a:endParaRPr lang="en-US" sz="3000" noProof="1"/>
          </a:p>
        </p:txBody>
      </p:sp>
      <p:sp>
        <p:nvSpPr>
          <p:cNvPr id="34" name="p3-title"/>
          <p:cNvSpPr txBox="1"/>
          <p:nvPr/>
        </p:nvSpPr>
        <p:spPr>
          <a:xfrm>
            <a:off x="6350000" y="4419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不敢错</a:t>
            </a:r>
            <a:endParaRPr lang="en-US" sz="1500" noProof="1"/>
          </a:p>
        </p:txBody>
      </p:sp>
      <p:sp>
        <p:nvSpPr>
          <p:cNvPr id="35" name="p3-body"/>
          <p:cNvSpPr txBox="1"/>
          <p:nvPr/>
        </p:nvSpPr>
        <p:spPr>
          <a:xfrm>
            <a:off x="6350000" y="47244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冤枉一个正常商户的代价远高于漏掉一个，每条结论都必须可解释、可复核</a:t>
            </a:r>
            <a:endParaRPr lang="en-US" sz="1200" noProof="1"/>
          </a:p>
        </p:txBody>
      </p:sp>
      <p:sp>
        <p:nvSpPr>
          <p:cNvPr id="36" name="foot-note"/>
          <p:cNvSpPr txBox="1"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说明：一线研判耗时、串案率等量化指标待真实用户访谈补充，本页不臆造数字；用户分层依据项目场景定义文档（docs/11）。</a:t>
            </a:r>
            <a:endParaRPr lang="en-US" sz="1100" noProof="1"/>
          </a:p>
        </p:txBody>
      </p:sp>
      <p:sp>
        <p:nvSpPr>
          <p:cNvPr id="37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06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05 · 方案总览 SOLUTION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一句话：六个 AI 侦探，从一起报案挖出整个团伙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in-box"/>
          <p:cNvSpPr/>
          <p:nvPr/>
        </p:nvSpPr>
        <p:spPr>
          <a:xfrm>
            <a:off x="762000" y="2159000"/>
            <a:ext cx="2667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DFF"/>
            </a:solidFill>
          </a:ln>
        </p:spPr>
      </p:sp>
      <p:sp>
        <p:nvSpPr>
          <p:cNvPr id="14" name="in-tag"/>
          <p:cNvSpPr txBox="1"/>
          <p:nvPr/>
        </p:nvSpPr>
        <p:spPr>
          <a:xfrm>
            <a:off x="762000" y="23114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 spc="200" kern="0">
                <a:solidFill>
                  <a:srgbClr val="4A7DFF"/>
                </a:solidFill>
                <a:latin typeface="MiSans"/>
                <a:ea typeface="MiSans"/>
              </a:rPr>
              <a:t>输入 INPUT</a:t>
            </a:r>
            <a:endParaRPr lang="en-US" sz="1100" noProof="1"/>
          </a:p>
        </p:txBody>
      </p:sp>
      <p:sp>
        <p:nvSpPr>
          <p:cNvPr id="15" name="in-icon"/>
          <p:cNvSpPr/>
          <p:nvPr>
            <p:extLst>
              <p:ext uri="{F5677B7D-0D2A-4D9B-9A5C-6D8D7D0E5A5D}">
                <pptd:icon encoding="base64url">eyJpY29uTmFtZSI6ImZhczpmaWxlLWNpcmNsZS1leGNsYW1hdGlvbiJ9</pptd:icon>
              </p:ext>
            </p:extLst>
          </p:nvPr>
        </p:nvSpPr>
        <p:spPr>
          <a:xfrm>
            <a:off x="1930400" y="2667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0"/>
                </a:moveTo>
                <a:cubicBezTo>
                  <a:pt x="61" y="0"/>
                  <a:pt x="32" y="29"/>
                  <a:pt x="32" y="64"/>
                </a:cubicBezTo>
                <a:lnTo>
                  <a:pt x="32" y="448"/>
                </a:lnTo>
                <a:cubicBezTo>
                  <a:pt x="32" y="483"/>
                  <a:pt x="61" y="512"/>
                  <a:pt x="96" y="512"/>
                </a:cubicBezTo>
                <a:lnTo>
                  <a:pt x="276" y="512"/>
                </a:lnTo>
                <a:cubicBezTo>
                  <a:pt x="253" y="481"/>
                  <a:pt x="240" y="442"/>
                  <a:pt x="240" y="400"/>
                </a:cubicBezTo>
                <a:cubicBezTo>
                  <a:pt x="240" y="299"/>
                  <a:pt x="317" y="217"/>
                  <a:pt x="416" y="209"/>
                </a:cubicBezTo>
                <a:lnTo>
                  <a:pt x="416" y="171"/>
                </a:lnTo>
                <a:cubicBezTo>
                  <a:pt x="416" y="154"/>
                  <a:pt x="409" y="137"/>
                  <a:pt x="397" y="125"/>
                </a:cubicBezTo>
                <a:lnTo>
                  <a:pt x="291" y="19"/>
                </a:lnTo>
                <a:cubicBezTo>
                  <a:pt x="279" y="7"/>
                  <a:pt x="263" y="0"/>
                  <a:pt x="246" y="0"/>
                </a:cubicBezTo>
                <a:lnTo>
                  <a:pt x="96" y="0"/>
                </a:lnTo>
                <a:close/>
                <a:moveTo>
                  <a:pt x="358" y="176"/>
                </a:moveTo>
                <a:lnTo>
                  <a:pt x="264" y="176"/>
                </a:lnTo>
                <a:cubicBezTo>
                  <a:pt x="251" y="176"/>
                  <a:pt x="240" y="165"/>
                  <a:pt x="240" y="152"/>
                </a:cubicBezTo>
                <a:lnTo>
                  <a:pt x="240" y="59"/>
                </a:lnTo>
                <a:lnTo>
                  <a:pt x="358" y="176"/>
                </a:lnTo>
                <a:close/>
              </a:path>
              <a:path w="576" h="512">
                <a:moveTo>
                  <a:pt x="432" y="544"/>
                </a:moveTo>
                <a:cubicBezTo>
                  <a:pt x="512" y="544"/>
                  <a:pt x="576" y="480"/>
                  <a:pt x="576" y="400"/>
                </a:cubicBezTo>
                <a:cubicBezTo>
                  <a:pt x="576" y="320"/>
                  <a:pt x="512" y="256"/>
                  <a:pt x="432" y="256"/>
                </a:cubicBezTo>
                <a:cubicBezTo>
                  <a:pt x="352" y="256"/>
                  <a:pt x="288" y="320"/>
                  <a:pt x="288" y="400"/>
                </a:cubicBezTo>
                <a:cubicBezTo>
                  <a:pt x="288" y="480"/>
                  <a:pt x="352" y="544"/>
                  <a:pt x="432" y="544"/>
                </a:cubicBezTo>
                <a:close/>
                <a:moveTo>
                  <a:pt x="432" y="444"/>
                </a:moveTo>
                <a:cubicBezTo>
                  <a:pt x="443" y="444"/>
                  <a:pt x="452" y="453"/>
                  <a:pt x="452" y="464"/>
                </a:cubicBezTo>
                <a:cubicBezTo>
                  <a:pt x="452" y="475"/>
                  <a:pt x="443" y="484"/>
                  <a:pt x="432" y="484"/>
                </a:cubicBezTo>
                <a:cubicBezTo>
                  <a:pt x="421" y="484"/>
                  <a:pt x="412" y="475"/>
                  <a:pt x="412" y="464"/>
                </a:cubicBezTo>
                <a:cubicBezTo>
                  <a:pt x="412" y="453"/>
                  <a:pt x="421" y="444"/>
                  <a:pt x="432" y="444"/>
                </a:cubicBezTo>
                <a:close/>
                <a:moveTo>
                  <a:pt x="432" y="304"/>
                </a:moveTo>
                <a:cubicBezTo>
                  <a:pt x="441" y="304"/>
                  <a:pt x="448" y="311"/>
                  <a:pt x="448" y="320"/>
                </a:cubicBezTo>
                <a:lnTo>
                  <a:pt x="448" y="400"/>
                </a:lnTo>
                <a:cubicBezTo>
                  <a:pt x="448" y="409"/>
                  <a:pt x="441" y="416"/>
                  <a:pt x="432" y="416"/>
                </a:cubicBezTo>
                <a:cubicBezTo>
                  <a:pt x="423" y="416"/>
                  <a:pt x="416" y="409"/>
                  <a:pt x="416" y="400"/>
                </a:cubicBezTo>
                <a:lnTo>
                  <a:pt x="416" y="320"/>
                </a:lnTo>
                <a:cubicBezTo>
                  <a:pt x="416" y="311"/>
                  <a:pt x="423" y="304"/>
                  <a:pt x="432" y="304"/>
                </a:cubicBezTo>
                <a:close/>
              </a:path>
            </a:pathLst>
          </a:custGeom>
          <a:solidFill>
            <a:srgbClr val="4A7DFF"/>
          </a:solidFill>
          <a:ln>
            <a:noFill/>
          </a:ln>
        </p:spPr>
      </p:sp>
      <p:sp>
        <p:nvSpPr>
          <p:cNvPr id="16" name="in-t"/>
          <p:cNvSpPr txBox="1"/>
          <p:nvPr/>
        </p:nvSpPr>
        <p:spPr>
          <a:xfrm>
            <a:off x="889000" y="30988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一起报案</a:t>
            </a:r>
            <a:endParaRPr lang="en-US" sz="13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报案描述 + 可疑联系方式</a:t>
            </a:r>
            <a:endParaRPr lang="en-US" sz="1300" noProof="1"/>
          </a:p>
        </p:txBody>
      </p:sp>
      <p:sp>
        <p:nvSpPr>
          <p:cNvPr id="17" name="arrow1"/>
          <p:cNvSpPr/>
          <p:nvPr>
            <p:extLst>
              <p:ext uri="{F5677B7D-0D2A-4D9B-9A5C-6D8D7D0E5A5D}">
                <pptd:line encoding="base64url">eyJ2aWV3Qm94IjpbNjAsMl0sInBvaW50cyI6IjAsMSA2MCwxIn0</pptd:line>
              </p:ext>
            </p:extLst>
          </p:nvPr>
        </p:nvSpPr>
        <p:spPr>
          <a:xfrm>
            <a:off x="3556000" y="30353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1"/>
                </a:moveTo>
                <a:lnTo>
                  <a:pt x="60" y="1"/>
                </a:lnTo>
              </a:path>
            </a:pathLst>
          </a:custGeom>
          <a:noFill/>
          <a:ln w="25400" cap="rnd">
            <a:solidFill>
              <a:srgbClr val="2B5CE6"/>
            </a:solidFill>
            <a:round/>
            <a:tailEnd type="arrow"/>
          </a:ln>
        </p:spPr>
      </p:sp>
      <p:sp>
        <p:nvSpPr>
          <p:cNvPr id="18" name="core-box"/>
          <p:cNvSpPr/>
          <p:nvPr/>
        </p:nvSpPr>
        <p:spPr>
          <a:xfrm>
            <a:off x="4445000" y="1905000"/>
            <a:ext cx="3302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5CE6"/>
            </a:solidFill>
          </a:ln>
        </p:spPr>
      </p:sp>
      <p:sp>
        <p:nvSpPr>
          <p:cNvPr id="19" name="core-tag"/>
          <p:cNvSpPr txBox="1"/>
          <p:nvPr/>
        </p:nvSpPr>
        <p:spPr>
          <a:xfrm>
            <a:off x="4445000" y="20574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 spc="200" kern="0">
                <a:solidFill>
                  <a:srgbClr val="2B5CE6"/>
                </a:solidFill>
                <a:latin typeface="MiSans"/>
                <a:ea typeface="MiSans"/>
              </a:rPr>
              <a:t>六智能体协作</a:t>
            </a:r>
            <a:endParaRPr lang="en-US" sz="1100" noProof="1"/>
          </a:p>
        </p:txBody>
      </p:sp>
      <p:sp>
        <p:nvSpPr>
          <p:cNvPr id="20" name="core-icon"/>
          <p:cNvSpPr/>
          <p:nvPr>
            <p:extLst>
              <p:ext uri="{F5677B7D-0D2A-4D9B-9A5C-6D8D7D0E5A5D}">
                <pptd:icon encoding="base64url">eyJpY29uTmFtZSI6ImZhczp1c2Vycy1nZWFyIn0</pptd:icon>
              </p:ext>
            </p:extLst>
          </p:nvPr>
        </p:nvSpPr>
        <p:spPr>
          <a:xfrm>
            <a:off x="59182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224"/>
                </a:moveTo>
                <a:cubicBezTo>
                  <a:pt x="377" y="224"/>
                  <a:pt x="424" y="177"/>
                  <a:pt x="424" y="120"/>
                </a:cubicBezTo>
                <a:cubicBezTo>
                  <a:pt x="424" y="63"/>
                  <a:pt x="377" y="16"/>
                  <a:pt x="320" y="16"/>
                </a:cubicBezTo>
                <a:cubicBezTo>
                  <a:pt x="263" y="16"/>
                  <a:pt x="216" y="63"/>
                  <a:pt x="216" y="120"/>
                </a:cubicBezTo>
                <a:cubicBezTo>
                  <a:pt x="216" y="177"/>
                  <a:pt x="263" y="224"/>
                  <a:pt x="320" y="224"/>
                </a:cubicBezTo>
                <a:close/>
              </a:path>
              <a:path w="640" h="512">
                <a:moveTo>
                  <a:pt x="96" y="232"/>
                </a:moveTo>
                <a:cubicBezTo>
                  <a:pt x="136" y="232"/>
                  <a:pt x="168" y="200"/>
                  <a:pt x="168" y="160"/>
                </a:cubicBezTo>
                <a:cubicBezTo>
                  <a:pt x="168" y="120"/>
                  <a:pt x="136" y="88"/>
                  <a:pt x="96" y="88"/>
                </a:cubicBezTo>
                <a:cubicBezTo>
                  <a:pt x="56" y="88"/>
                  <a:pt x="24" y="120"/>
                  <a:pt x="24" y="160"/>
                </a:cubicBezTo>
                <a:cubicBezTo>
                  <a:pt x="24" y="200"/>
                  <a:pt x="56" y="232"/>
                  <a:pt x="96" y="232"/>
                </a:cubicBezTo>
                <a:close/>
              </a:path>
              <a:path w="640" h="512">
                <a:moveTo>
                  <a:pt x="0" y="416"/>
                </a:moveTo>
                <a:lnTo>
                  <a:pt x="0" y="448"/>
                </a:lnTo>
                <a:cubicBezTo>
                  <a:pt x="0" y="466"/>
                  <a:pt x="14" y="480"/>
                  <a:pt x="32" y="480"/>
                </a:cubicBezTo>
                <a:lnTo>
                  <a:pt x="119" y="480"/>
                </a:lnTo>
                <a:cubicBezTo>
                  <a:pt x="114" y="470"/>
                  <a:pt x="112" y="459"/>
                  <a:pt x="112" y="448"/>
                </a:cubicBezTo>
                <a:lnTo>
                  <a:pt x="112" y="432"/>
                </a:lnTo>
                <a:cubicBezTo>
                  <a:pt x="112" y="379"/>
                  <a:pt x="132" y="330"/>
                  <a:pt x="165" y="293"/>
                </a:cubicBezTo>
                <a:cubicBezTo>
                  <a:pt x="153" y="290"/>
                  <a:pt x="141" y="288"/>
                  <a:pt x="128" y="288"/>
                </a:cubicBezTo>
                <a:cubicBezTo>
                  <a:pt x="57" y="288"/>
                  <a:pt x="0" y="345"/>
                  <a:pt x="0" y="416"/>
                </a:cubicBezTo>
                <a:close/>
              </a:path>
              <a:path w="640" h="512">
                <a:moveTo>
                  <a:pt x="616" y="160"/>
                </a:moveTo>
                <a:cubicBezTo>
                  <a:pt x="616" y="120"/>
                  <a:pt x="584" y="88"/>
                  <a:pt x="544" y="88"/>
                </a:cubicBezTo>
                <a:cubicBezTo>
                  <a:pt x="504" y="88"/>
                  <a:pt x="472" y="120"/>
                  <a:pt x="472" y="160"/>
                </a:cubicBezTo>
                <a:cubicBezTo>
                  <a:pt x="472" y="200"/>
                  <a:pt x="504" y="232"/>
                  <a:pt x="544" y="232"/>
                </a:cubicBezTo>
                <a:cubicBezTo>
                  <a:pt x="584" y="232"/>
                  <a:pt x="616" y="200"/>
                  <a:pt x="616" y="160"/>
                </a:cubicBezTo>
                <a:close/>
              </a:path>
              <a:path w="640" h="512">
                <a:moveTo>
                  <a:pt x="160" y="432"/>
                </a:moveTo>
                <a:lnTo>
                  <a:pt x="160" y="448"/>
                </a:lnTo>
                <a:cubicBezTo>
                  <a:pt x="160" y="466"/>
                  <a:pt x="174" y="480"/>
                  <a:pt x="192" y="480"/>
                </a:cubicBezTo>
                <a:lnTo>
                  <a:pt x="349" y="480"/>
                </a:lnTo>
                <a:cubicBezTo>
                  <a:pt x="342" y="458"/>
                  <a:pt x="343" y="436"/>
                  <a:pt x="360" y="416"/>
                </a:cubicBezTo>
                <a:cubicBezTo>
                  <a:pt x="346" y="400"/>
                  <a:pt x="339" y="376"/>
                  <a:pt x="348" y="353"/>
                </a:cubicBezTo>
                <a:cubicBezTo>
                  <a:pt x="355" y="336"/>
                  <a:pt x="364" y="320"/>
                  <a:pt x="376" y="305"/>
                </a:cubicBezTo>
                <a:cubicBezTo>
                  <a:pt x="381" y="299"/>
                  <a:pt x="387" y="294"/>
                  <a:pt x="394" y="290"/>
                </a:cubicBezTo>
                <a:cubicBezTo>
                  <a:pt x="372" y="279"/>
                  <a:pt x="347" y="272"/>
                  <a:pt x="320" y="272"/>
                </a:cubicBezTo>
                <a:cubicBezTo>
                  <a:pt x="232" y="272"/>
                  <a:pt x="160" y="344"/>
                  <a:pt x="160" y="432"/>
                </a:cubicBezTo>
                <a:close/>
              </a:path>
              <a:path w="640" h="512">
                <a:moveTo>
                  <a:pt x="625" y="388"/>
                </a:moveTo>
                <a:cubicBezTo>
                  <a:pt x="631" y="384"/>
                  <a:pt x="634" y="377"/>
                  <a:pt x="631" y="370"/>
                </a:cubicBezTo>
                <a:cubicBezTo>
                  <a:pt x="627" y="358"/>
                  <a:pt x="620" y="346"/>
                  <a:pt x="612" y="336"/>
                </a:cubicBezTo>
                <a:cubicBezTo>
                  <a:pt x="607" y="330"/>
                  <a:pt x="599" y="329"/>
                  <a:pt x="593" y="333"/>
                </a:cubicBezTo>
                <a:cubicBezTo>
                  <a:pt x="571" y="345"/>
                  <a:pt x="544" y="330"/>
                  <a:pt x="544" y="304"/>
                </a:cubicBezTo>
                <a:cubicBezTo>
                  <a:pt x="544" y="297"/>
                  <a:pt x="539" y="291"/>
                  <a:pt x="532" y="290"/>
                </a:cubicBezTo>
                <a:cubicBezTo>
                  <a:pt x="519" y="288"/>
                  <a:pt x="505" y="288"/>
                  <a:pt x="492" y="290"/>
                </a:cubicBezTo>
                <a:cubicBezTo>
                  <a:pt x="485" y="291"/>
                  <a:pt x="480" y="297"/>
                  <a:pt x="480" y="304"/>
                </a:cubicBezTo>
                <a:cubicBezTo>
                  <a:pt x="480" y="330"/>
                  <a:pt x="453" y="345"/>
                  <a:pt x="431" y="333"/>
                </a:cubicBezTo>
                <a:cubicBezTo>
                  <a:pt x="425" y="329"/>
                  <a:pt x="417" y="330"/>
                  <a:pt x="412" y="336"/>
                </a:cubicBezTo>
                <a:cubicBezTo>
                  <a:pt x="404" y="346"/>
                  <a:pt x="397" y="358"/>
                  <a:pt x="392" y="370"/>
                </a:cubicBezTo>
                <a:cubicBezTo>
                  <a:pt x="390" y="377"/>
                  <a:pt x="393" y="384"/>
                  <a:pt x="399" y="388"/>
                </a:cubicBezTo>
                <a:cubicBezTo>
                  <a:pt x="421" y="400"/>
                  <a:pt x="421" y="431"/>
                  <a:pt x="399" y="444"/>
                </a:cubicBezTo>
                <a:cubicBezTo>
                  <a:pt x="393" y="448"/>
                  <a:pt x="390" y="455"/>
                  <a:pt x="392" y="462"/>
                </a:cubicBezTo>
                <a:cubicBezTo>
                  <a:pt x="397" y="474"/>
                  <a:pt x="404" y="486"/>
                  <a:pt x="412" y="496"/>
                </a:cubicBezTo>
                <a:cubicBezTo>
                  <a:pt x="417" y="502"/>
                  <a:pt x="425" y="503"/>
                  <a:pt x="431" y="499"/>
                </a:cubicBezTo>
                <a:cubicBezTo>
                  <a:pt x="453" y="487"/>
                  <a:pt x="480" y="502"/>
                  <a:pt x="480" y="527"/>
                </a:cubicBezTo>
                <a:cubicBezTo>
                  <a:pt x="480" y="535"/>
                  <a:pt x="485" y="541"/>
                  <a:pt x="492" y="542"/>
                </a:cubicBezTo>
                <a:cubicBezTo>
                  <a:pt x="505" y="544"/>
                  <a:pt x="519" y="544"/>
                  <a:pt x="532" y="542"/>
                </a:cubicBezTo>
                <a:cubicBezTo>
                  <a:pt x="539" y="541"/>
                  <a:pt x="544" y="535"/>
                  <a:pt x="544" y="527"/>
                </a:cubicBezTo>
                <a:cubicBezTo>
                  <a:pt x="544" y="502"/>
                  <a:pt x="571" y="487"/>
                  <a:pt x="593" y="499"/>
                </a:cubicBezTo>
                <a:cubicBezTo>
                  <a:pt x="599" y="503"/>
                  <a:pt x="607" y="502"/>
                  <a:pt x="612" y="496"/>
                </a:cubicBezTo>
                <a:cubicBezTo>
                  <a:pt x="620" y="486"/>
                  <a:pt x="627" y="474"/>
                  <a:pt x="631" y="462"/>
                </a:cubicBezTo>
                <a:cubicBezTo>
                  <a:pt x="634" y="455"/>
                  <a:pt x="631" y="448"/>
                  <a:pt x="625" y="444"/>
                </a:cubicBezTo>
                <a:cubicBezTo>
                  <a:pt x="603" y="431"/>
                  <a:pt x="603" y="400"/>
                  <a:pt x="625" y="388"/>
                </a:cubicBezTo>
                <a:close/>
                <a:moveTo>
                  <a:pt x="472" y="416"/>
                </a:moveTo>
                <a:cubicBezTo>
                  <a:pt x="472" y="394"/>
                  <a:pt x="490" y="376"/>
                  <a:pt x="512" y="376"/>
                </a:cubicBezTo>
                <a:cubicBezTo>
                  <a:pt x="534" y="376"/>
                  <a:pt x="552" y="394"/>
                  <a:pt x="552" y="416"/>
                </a:cubicBezTo>
                <a:cubicBezTo>
                  <a:pt x="552" y="438"/>
                  <a:pt x="534" y="456"/>
                  <a:pt x="512" y="456"/>
                </a:cubicBezTo>
                <a:cubicBezTo>
                  <a:pt x="490" y="456"/>
                  <a:pt x="472" y="438"/>
                  <a:pt x="472" y="416"/>
                </a:cubicBezTo>
                <a:close/>
              </a:path>
            </a:pathLst>
          </a:custGeom>
          <a:solidFill>
            <a:srgbClr val="2B5CE6"/>
          </a:solidFill>
          <a:ln>
            <a:noFill/>
          </a:ln>
        </p:spPr>
      </p:sp>
      <p:sp>
        <p:nvSpPr>
          <p:cNvPr id="21" name="core-t"/>
          <p:cNvSpPr txBox="1"/>
          <p:nvPr/>
        </p:nvSpPr>
        <p:spPr>
          <a:xfrm>
            <a:off x="4572000" y="2870200"/>
            <a:ext cx="304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接案员 · 话术分析师 · 资金追踪员</a:t>
            </a:r>
            <a:endParaRPr lang="en-US" sz="1300" noProof="1"/>
          </a:p>
          <a:p>
            <a:pPr algn="ctr">
              <a:lnSpc>
                <a:spcPct val="16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通信关联员 · 图谱合成员 · 审判官</a:t>
            </a:r>
            <a:endParaRPr lang="en-US" sz="1300" noProof="1"/>
          </a:p>
          <a:p>
            <a:pPr algn="ctr">
              <a:lnSpc>
                <a:spcPct val="16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分头调查 → 交叉印证 → 审判把关</a:t>
            </a:r>
            <a:endParaRPr lang="en-US" sz="1300" noProof="1"/>
          </a:p>
        </p:txBody>
      </p:sp>
      <p:sp>
        <p:nvSpPr>
          <p:cNvPr id="22" name="arrow2"/>
          <p:cNvSpPr/>
          <p:nvPr>
            <p:extLst>
              <p:ext uri="{F5677B7D-0D2A-4D9B-9A5C-6D8D7D0E5A5D}">
                <pptd:line encoding="base64url">eyJ2aWV3Qm94IjpbNjAsMl0sInBvaW50cyI6IjAsMSA2MCwxIn0</pptd:line>
              </p:ext>
            </p:extLst>
          </p:nvPr>
        </p:nvSpPr>
        <p:spPr>
          <a:xfrm>
            <a:off x="7874000" y="30353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1"/>
                </a:moveTo>
                <a:lnTo>
                  <a:pt x="60" y="1"/>
                </a:lnTo>
              </a:path>
            </a:pathLst>
          </a:custGeom>
          <a:noFill/>
          <a:ln w="25400" cap="rnd">
            <a:solidFill>
              <a:srgbClr val="2B5CE6"/>
            </a:solidFill>
            <a:round/>
            <a:tailEnd type="arrow"/>
          </a:ln>
        </p:spPr>
      </p:sp>
      <p:sp>
        <p:nvSpPr>
          <p:cNvPr id="23" name="out-box"/>
          <p:cNvSpPr/>
          <p:nvPr/>
        </p:nvSpPr>
        <p:spPr>
          <a:xfrm>
            <a:off x="8763000" y="2159000"/>
            <a:ext cx="2667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CE6"/>
            </a:solidFill>
          </a:ln>
        </p:spPr>
      </p:sp>
      <p:sp>
        <p:nvSpPr>
          <p:cNvPr id="24" name="out-tag"/>
          <p:cNvSpPr txBox="1"/>
          <p:nvPr/>
        </p:nvSpPr>
        <p:spPr>
          <a:xfrm>
            <a:off x="8763000" y="23114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 spc="200" kern="0">
                <a:solidFill>
                  <a:srgbClr val="2B5CE6"/>
                </a:solidFill>
                <a:latin typeface="MiSans"/>
                <a:ea typeface="MiSans"/>
              </a:rPr>
              <a:t>输出 OUTPUT</a:t>
            </a:r>
            <a:endParaRPr lang="en-US" sz="1100" noProof="1"/>
          </a:p>
        </p:txBody>
      </p:sp>
      <p:sp>
        <p:nvSpPr>
          <p:cNvPr id="25" name="out-icon"/>
          <p:cNvSpPr/>
          <p:nvPr>
            <p:extLst>
              <p:ext uri="{F5677B7D-0D2A-4D9B-9A5C-6D8D7D0E5A5D}">
                <pptd:icon encoding="base64url">eyJpY29uTmFtZSI6ImZhczpkaWFncmFtLXByb2plY3QifQ</pptd:icon>
              </p:ext>
            </p:extLst>
          </p:nvPr>
        </p:nvSpPr>
        <p:spPr>
          <a:xfrm>
            <a:off x="9931400" y="2667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80"/>
                </a:moveTo>
                <a:cubicBezTo>
                  <a:pt x="0" y="54"/>
                  <a:pt x="22" y="32"/>
                  <a:pt x="48" y="32"/>
                </a:cubicBezTo>
                <a:lnTo>
                  <a:pt x="144" y="32"/>
                </a:lnTo>
                <a:cubicBezTo>
                  <a:pt x="171" y="32"/>
                  <a:pt x="192" y="54"/>
                  <a:pt x="192" y="80"/>
                </a:cubicBezTo>
                <a:lnTo>
                  <a:pt x="192" y="96"/>
                </a:lnTo>
                <a:lnTo>
                  <a:pt x="320" y="96"/>
                </a:lnTo>
                <a:lnTo>
                  <a:pt x="320" y="80"/>
                </a:lnTo>
                <a:cubicBezTo>
                  <a:pt x="320" y="54"/>
                  <a:pt x="342" y="32"/>
                  <a:pt x="368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176"/>
                </a:lnTo>
                <a:cubicBezTo>
                  <a:pt x="512" y="203"/>
                  <a:pt x="491" y="224"/>
                  <a:pt x="464" y="224"/>
                </a:cubicBezTo>
                <a:lnTo>
                  <a:pt x="368" y="224"/>
                </a:lnTo>
                <a:cubicBezTo>
                  <a:pt x="342" y="224"/>
                  <a:pt x="320" y="203"/>
                  <a:pt x="320" y="176"/>
                </a:cubicBezTo>
                <a:lnTo>
                  <a:pt x="320" y="160"/>
                </a:lnTo>
                <a:lnTo>
                  <a:pt x="192" y="160"/>
                </a:lnTo>
                <a:lnTo>
                  <a:pt x="192" y="176"/>
                </a:lnTo>
                <a:cubicBezTo>
                  <a:pt x="192" y="183"/>
                  <a:pt x="190" y="190"/>
                  <a:pt x="187" y="197"/>
                </a:cubicBezTo>
                <a:lnTo>
                  <a:pt x="256" y="288"/>
                </a:lnTo>
                <a:lnTo>
                  <a:pt x="336" y="288"/>
                </a:lnTo>
                <a:cubicBezTo>
                  <a:pt x="363" y="288"/>
                  <a:pt x="384" y="310"/>
                  <a:pt x="384" y="336"/>
                </a:cubicBezTo>
                <a:lnTo>
                  <a:pt x="384" y="432"/>
                </a:lnTo>
                <a:cubicBezTo>
                  <a:pt x="384" y="459"/>
                  <a:pt x="363" y="480"/>
                  <a:pt x="336" y="480"/>
                </a:cubicBezTo>
                <a:lnTo>
                  <a:pt x="240" y="480"/>
                </a:lnTo>
                <a:cubicBezTo>
                  <a:pt x="214" y="480"/>
                  <a:pt x="192" y="459"/>
                  <a:pt x="192" y="432"/>
                </a:cubicBezTo>
                <a:lnTo>
                  <a:pt x="192" y="336"/>
                </a:lnTo>
                <a:cubicBezTo>
                  <a:pt x="192" y="329"/>
                  <a:pt x="194" y="322"/>
                  <a:pt x="197" y="316"/>
                </a:cubicBezTo>
                <a:lnTo>
                  <a:pt x="128" y="224"/>
                </a:lnTo>
                <a:lnTo>
                  <a:pt x="48" y="224"/>
                </a:lnTo>
                <a:cubicBezTo>
                  <a:pt x="22" y="224"/>
                  <a:pt x="0" y="203"/>
                  <a:pt x="0" y="176"/>
                </a:cubicBezTo>
                <a:lnTo>
                  <a:pt x="0" y="80"/>
                </a:lnTo>
                <a:close/>
              </a:path>
            </a:pathLst>
          </a:custGeom>
          <a:solidFill>
            <a:srgbClr val="2B5CE6"/>
          </a:solidFill>
          <a:ln>
            <a:noFill/>
          </a:ln>
        </p:spPr>
      </p:sp>
      <p:sp>
        <p:nvSpPr>
          <p:cNvPr id="26" name="out-t"/>
          <p:cNvSpPr txBox="1"/>
          <p:nvPr/>
        </p:nvSpPr>
        <p:spPr>
          <a:xfrm>
            <a:off x="8890000" y="30988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研判报告 + 可交互证据图谱</a:t>
            </a:r>
            <a:endParaRPr lang="en-US" sz="13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每条指认可点开查原始记录</a:t>
            </a:r>
            <a:endParaRPr lang="en-US" sz="1300" noProof="1"/>
          </a:p>
        </p:txBody>
      </p:sp>
      <p:sp>
        <p:nvSpPr>
          <p:cNvPr id="27" name="rule-line"/>
          <p:cNvSpPr/>
          <p:nvPr/>
        </p:nvSpPr>
        <p:spPr>
          <a:xfrm>
            <a:off x="762000" y="47244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8" name="rule1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1651000" y="508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2B5CE6"/>
          </a:solidFill>
          <a:ln>
            <a:noFill/>
          </a:ln>
        </p:spPr>
      </p:sp>
      <p:sp>
        <p:nvSpPr>
          <p:cNvPr id="29" name="rule1"/>
          <p:cNvSpPr txBox="1"/>
          <p:nvPr/>
        </p:nvSpPr>
        <p:spPr>
          <a:xfrm>
            <a:off x="2057400" y="5054600"/>
            <a:ext cx="279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每条指认挂记录编号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可在数据源逐条核查</a:t>
            </a:r>
            <a:endParaRPr lang="en-US" sz="1300" noProof="1"/>
          </a:p>
        </p:txBody>
      </p:sp>
      <p:sp>
        <p:nvSpPr>
          <p:cNvPr id="30" name="rule2-icon"/>
          <p:cNvSpPr/>
          <p:nvPr>
            <p:extLst>
              <p:ext uri="{F5677B7D-0D2A-4D9B-9A5C-6D8D7D0E5A5D}">
                <pptd:icon encoding="base64url">eyJpY29uTmFtZSI6ImZhczp1c2VyLWNoZWNrIn0</pptd:icon>
              </p:ext>
            </p:extLst>
          </p:nvPr>
        </p:nvSpPr>
        <p:spPr>
          <a:xfrm>
            <a:off x="5207000" y="508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E8930C"/>
          </a:solidFill>
          <a:ln>
            <a:noFill/>
          </a:ln>
        </p:spPr>
      </p:sp>
      <p:sp>
        <p:nvSpPr>
          <p:cNvPr id="31" name="rule2"/>
          <p:cNvSpPr txBox="1"/>
          <p:nvPr/>
        </p:nvSpPr>
        <p:spPr>
          <a:xfrm>
            <a:off x="5613400" y="5054600"/>
            <a:ext cx="254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证据不够，转人工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两轮补查仍不足即交出</a:t>
            </a:r>
            <a:endParaRPr lang="en-US" sz="1300" noProof="1"/>
          </a:p>
        </p:txBody>
      </p:sp>
      <p:sp>
        <p:nvSpPr>
          <p:cNvPr id="32" name="rule3-icon"/>
          <p:cNvSpPr/>
          <p:nvPr>
            <p:extLst>
              <p:ext uri="{F5677B7D-0D2A-4D9B-9A5C-6D8D7D0E5A5D}">
                <pptd:icon encoding="base64url">eyJpY29uTmFtZSI6ImZhczpsb2NrIn0</pptd:icon>
              </p:ext>
            </p:extLst>
          </p:nvPr>
        </p:nvSpPr>
        <p:spPr>
          <a:xfrm>
            <a:off x="8636000" y="508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28" y="96"/>
                </a:moveTo>
                <a:lnTo>
                  <a:pt x="128" y="160"/>
                </a:lnTo>
                <a:lnTo>
                  <a:pt x="256" y="160"/>
                </a:lnTo>
                <a:lnTo>
                  <a:pt x="256" y="96"/>
                </a:lnTo>
                <a:cubicBezTo>
                  <a:pt x="256" y="61"/>
                  <a:pt x="227" y="32"/>
                  <a:pt x="192" y="32"/>
                </a:cubicBezTo>
                <a:cubicBezTo>
                  <a:pt x="157" y="32"/>
                  <a:pt x="128" y="61"/>
                  <a:pt x="128" y="96"/>
                </a:cubicBezTo>
                <a:close/>
                <a:moveTo>
                  <a:pt x="64" y="160"/>
                </a:moveTo>
                <a:lnTo>
                  <a:pt x="64" y="96"/>
                </a:lnTo>
                <a:cubicBezTo>
                  <a:pt x="64" y="25"/>
                  <a:pt x="121" y="-32"/>
                  <a:pt x="192" y="-32"/>
                </a:cubicBezTo>
                <a:cubicBezTo>
                  <a:pt x="263" y="-32"/>
                  <a:pt x="320" y="25"/>
                  <a:pt x="320" y="96"/>
                </a:cubicBezTo>
                <a:lnTo>
                  <a:pt x="320" y="160"/>
                </a:lnTo>
                <a:cubicBezTo>
                  <a:pt x="355" y="160"/>
                  <a:pt x="384" y="189"/>
                  <a:pt x="384" y="224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224"/>
                </a:lnTo>
                <a:cubicBezTo>
                  <a:pt x="0" y="189"/>
                  <a:pt x="29" y="160"/>
                  <a:pt x="64" y="160"/>
                </a:cubicBezTo>
                <a:close/>
              </a:path>
            </a:pathLst>
          </a:custGeom>
          <a:solidFill>
            <a:srgbClr val="4A7DFF"/>
          </a:solidFill>
          <a:ln>
            <a:noFill/>
          </a:ln>
        </p:spPr>
      </p:sp>
      <p:sp>
        <p:nvSpPr>
          <p:cNvPr id="33" name="rule3"/>
          <p:cNvSpPr txBox="1"/>
          <p:nvPr/>
        </p:nvSpPr>
        <p:spPr>
          <a:xfrm>
            <a:off x="9042400" y="5054600"/>
            <a:ext cx="2667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只读不执行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冻结/报警仅模拟，人拍板</a:t>
            </a:r>
            <a:endParaRPr lang="en-US" sz="1300" noProof="1"/>
          </a:p>
        </p:txBody>
      </p:sp>
      <p:sp>
        <p:nvSpPr>
          <p:cNvPr id="34" name="bottom-line"/>
          <p:cNvSpPr/>
          <p:nvPr/>
        </p:nvSpPr>
        <p:spPr>
          <a:xfrm>
            <a:off x="762000" y="59690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35" name="bottom-msg"/>
          <p:cNvSpPr txBox="1"/>
          <p:nvPr/>
        </p:nvSpPr>
        <p:spPr>
          <a:xfrm>
            <a:off x="762000" y="6146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54648A"/>
                </a:solidFill>
                <a:latin typeface="MiSans"/>
                <a:ea typeface="MiSans"/>
              </a:rPr>
              <a:t>把「手工画关系图」变成「审核一张带证据编号的关系图」</a:t>
            </a:r>
            <a:endParaRPr lang="en-US" sz="1400" noProof="1"/>
          </a:p>
        </p:txBody>
      </p:sp>
      <p:sp>
        <p:nvSpPr>
          <p:cNvPr id="36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07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06 · 核心创新 INNOVATION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为什么必须是多智能体，而不是一个大模型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c1"/>
          <p:cNvSpPr/>
          <p:nvPr/>
        </p:nvSpPr>
        <p:spPr>
          <a:xfrm>
            <a:off x="1016000" y="1905000"/>
            <a:ext cx="2413000" cy="2413000"/>
          </a:xfrm>
          <a:prstGeom prst="ellipse">
            <a:avLst/>
          </a:prstGeom>
          <a:solidFill>
            <a:srgbClr val="4A7DFF">
              <a:alpha val="12157"/>
            </a:srgbClr>
          </a:solidFill>
          <a:ln w="19050">
            <a:solidFill>
              <a:srgbClr val="4A7DFF"/>
            </a:solidFill>
          </a:ln>
        </p:spPr>
      </p:sp>
      <p:sp>
        <p:nvSpPr>
          <p:cNvPr id="14" name="c2"/>
          <p:cNvSpPr/>
          <p:nvPr/>
        </p:nvSpPr>
        <p:spPr>
          <a:xfrm>
            <a:off x="2540000" y="1905000"/>
            <a:ext cx="2413000" cy="2413000"/>
          </a:xfrm>
          <a:prstGeom prst="ellipse">
            <a:avLst/>
          </a:prstGeom>
          <a:solidFill>
            <a:srgbClr val="E8930C">
              <a:alpha val="12157"/>
            </a:srgbClr>
          </a:solidFill>
          <a:ln w="19050">
            <a:solidFill>
              <a:srgbClr val="E8930C"/>
            </a:solidFill>
          </a:ln>
        </p:spPr>
      </p:sp>
      <p:sp>
        <p:nvSpPr>
          <p:cNvPr id="15" name="c3"/>
          <p:cNvSpPr/>
          <p:nvPr/>
        </p:nvSpPr>
        <p:spPr>
          <a:xfrm>
            <a:off x="1778000" y="2921000"/>
            <a:ext cx="2413000" cy="2413000"/>
          </a:xfrm>
          <a:prstGeom prst="ellipse">
            <a:avLst/>
          </a:prstGeom>
          <a:solidFill>
            <a:srgbClr val="2B5CE6">
              <a:alpha val="10196"/>
            </a:srgbClr>
          </a:solidFill>
          <a:ln w="19050">
            <a:solidFill>
              <a:srgbClr val="2B5CE6"/>
            </a:solidFill>
          </a:ln>
        </p:spPr>
      </p:sp>
      <p:sp>
        <p:nvSpPr>
          <p:cNvPr id="16" name="c1-t"/>
          <p:cNvSpPr txBox="1"/>
          <p:nvPr/>
        </p:nvSpPr>
        <p:spPr>
          <a:xfrm>
            <a:off x="1270000" y="2260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4A7DFF"/>
                </a:solidFill>
                <a:latin typeface="MiSans"/>
                <a:ea typeface="MiSans"/>
              </a:rPr>
              <a:t>话术证据</a:t>
            </a:r>
            <a:endParaRPr lang="en-US" sz="1400" noProof="1"/>
          </a:p>
        </p:txBody>
      </p:sp>
      <p:sp>
        <p:nvSpPr>
          <p:cNvPr id="17" name="c2-t"/>
          <p:cNvSpPr txBox="1"/>
          <p:nvPr/>
        </p:nvSpPr>
        <p:spPr>
          <a:xfrm>
            <a:off x="2921000" y="2260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E8930C"/>
                </a:solidFill>
                <a:latin typeface="MiSans"/>
                <a:ea typeface="MiSans"/>
              </a:rPr>
              <a:t>资金证据</a:t>
            </a:r>
            <a:endParaRPr lang="en-US" sz="1400" noProof="1"/>
          </a:p>
        </p:txBody>
      </p:sp>
      <p:sp>
        <p:nvSpPr>
          <p:cNvPr id="18" name="c3-t"/>
          <p:cNvSpPr txBox="1"/>
          <p:nvPr/>
        </p:nvSpPr>
        <p:spPr>
          <a:xfrm>
            <a:off x="1905000" y="48260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B5CE6"/>
                </a:solidFill>
                <a:latin typeface="MiSans"/>
                <a:ea typeface="MiSans"/>
              </a:rPr>
              <a:t>通信证据</a:t>
            </a:r>
            <a:endParaRPr lang="en-US" sz="1400" noProof="1"/>
          </a:p>
        </p:txBody>
      </p:sp>
      <p:sp>
        <p:nvSpPr>
          <p:cNvPr id="19" name="center-t"/>
          <p:cNvSpPr txBox="1"/>
          <p:nvPr/>
        </p:nvSpPr>
        <p:spPr>
          <a:xfrm>
            <a:off x="2032000" y="34036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交叉印证</a:t>
            </a:r>
            <a:endParaRPr lang="en-US" sz="1500" noProof="1"/>
          </a:p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才敢指认</a:t>
            </a:r>
            <a:endParaRPr lang="en-US" sz="1500" noProof="1"/>
          </a:p>
        </p:txBody>
      </p:sp>
      <p:sp>
        <p:nvSpPr>
          <p:cNvPr id="20" name="left-note"/>
          <p:cNvSpPr txBox="1"/>
          <p:nvPr/>
        </p:nvSpPr>
        <p:spPr>
          <a:xfrm>
            <a:off x="1016000" y="553720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三类证据各自都不足以定案；分工也对应真实流程——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查钱的、查通信的、看话术的，本来就是不同的人。</a:t>
            </a:r>
            <a:endParaRPr lang="en-US" sz="1200" noProof="1"/>
          </a:p>
        </p:txBody>
      </p:sp>
      <p:sp>
        <p:nvSpPr>
          <p:cNvPr id="21" name="v-divider"/>
          <p:cNvSpPr/>
          <p:nvPr/>
        </p:nvSpPr>
        <p:spPr>
          <a:xfrm>
            <a:off x="5969000" y="1778000"/>
            <a:ext cx="12700" cy="45720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2" name="r1-title"/>
          <p:cNvSpPr txBox="1"/>
          <p:nvPr/>
        </p:nvSpPr>
        <p:spPr>
          <a:xfrm>
            <a:off x="6477000" y="17780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制衡：审判官专门挑错</a:t>
            </a:r>
            <a:endParaRPr lang="en-US" sz="1500" noProof="1"/>
          </a:p>
        </p:txBody>
      </p:sp>
      <p:sp>
        <p:nvSpPr>
          <p:cNvPr id="23" name="r1-body"/>
          <p:cNvSpPr txBox="1"/>
          <p:nvPr/>
        </p:nvSpPr>
        <p:spPr>
          <a:xfrm>
            <a:off x="6477000" y="2108200"/>
            <a:ext cx="495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单个 AI 很难真正否定自己；独立审判官角色逐条核验引用，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对不上就打回重查，超过轮数上限转人工。</a:t>
            </a:r>
            <a:endParaRPr lang="en-US" sz="1200" noProof="1"/>
          </a:p>
        </p:txBody>
      </p:sp>
      <p:sp>
        <p:nvSpPr>
          <p:cNvPr id="24" name="r1-line"/>
          <p:cNvSpPr/>
          <p:nvPr/>
        </p:nvSpPr>
        <p:spPr>
          <a:xfrm>
            <a:off x="6477000" y="2819400"/>
            <a:ext cx="4953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5" name="r2-title"/>
          <p:cNvSpPr txBox="1"/>
          <p:nvPr/>
        </p:nvSpPr>
        <p:spPr>
          <a:xfrm>
            <a:off x="6477000" y="30480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反例：单看资金，他像个"钱骡"</a:t>
            </a:r>
            <a:endParaRPr lang="en-US" sz="1500" noProof="1"/>
          </a:p>
        </p:txBody>
      </p:sp>
      <p:sp>
        <p:nvSpPr>
          <p:cNvPr id="26" name="r2-body"/>
          <p:cNvSpPr txBox="1"/>
          <p:nvPr/>
        </p:nvSpPr>
        <p:spPr>
          <a:xfrm>
            <a:off x="6477000" y="3378200"/>
            <a:ext cx="4953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一位小店老板一天几十笔小额收款，资金特征酷似归集账户；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叠加话术与通信两路证据后，被系统</a:t>
            </a:r>
            <a:r>
              <a:rPr lang="en-US" sz="1200" noProof="1" b="1">
                <a:solidFill>
                  <a:srgbClr val="2B5CE6"/>
                </a:solidFill>
                <a:latin typeface="MiSans"/>
                <a:ea typeface="MiSans"/>
              </a:rPr>
              <a:t>正式排除</a:t>
            </a: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——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小额、多付款人、有进货支出，属正常经营流水。</a:t>
            </a:r>
            <a:endParaRPr lang="en-US" sz="1200" noProof="1"/>
          </a:p>
        </p:txBody>
      </p:sp>
      <p:sp>
        <p:nvSpPr>
          <p:cNvPr id="27" name="r2-line"/>
          <p:cNvSpPr/>
          <p:nvPr/>
        </p:nvSpPr>
        <p:spPr>
          <a:xfrm>
            <a:off x="6477000" y="4368800"/>
            <a:ext cx="4953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8" name="quote"/>
          <p:cNvSpPr txBox="1"/>
          <p:nvPr/>
        </p:nvSpPr>
        <p:spPr>
          <a:xfrm>
            <a:off x="6477000" y="46482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800" noProof="1">
                <a:solidFill>
                  <a:srgbClr val="2B5CE6"/>
                </a:solidFill>
                <a:latin typeface="Alimama ShuHeiTi"/>
                <a:ea typeface="Alimama ShuHeiTi"/>
              </a:rPr>
              <a:t>一个 AI 会猜，</a:t>
            </a:r>
            <a:endParaRPr lang="en-US" sz="1800" noProof="1"/>
          </a:p>
          <a:p>
            <a:pPr>
              <a:lnSpc>
                <a:spcPct val="160000"/>
              </a:lnSpc>
            </a:pPr>
            <a:r>
              <a:rPr lang="en-US" sz="1800" noProof="1">
                <a:solidFill>
                  <a:srgbClr val="2B5CE6"/>
                </a:solidFill>
                <a:latin typeface="Alimama ShuHeiTi"/>
                <a:ea typeface="Alimama ShuHeiTi"/>
              </a:rPr>
              <a:t>一群互相核对的 AI 才敢指认。</a:t>
            </a:r>
            <a:endParaRPr lang="en-US" sz="1800" noProof="1"/>
          </a:p>
        </p:txBody>
      </p:sp>
      <p:sp>
        <p:nvSpPr>
          <p:cNvPr id="29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08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07 · 编排设计 ORCHESTRATION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六个智能体：并行侦查，审判收口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a0"/>
          <p:cNvSpPr/>
          <p:nvPr/>
        </p:nvSpPr>
        <p:spPr>
          <a:xfrm>
            <a:off x="762000" y="2921000"/>
            <a:ext cx="1397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DFF"/>
            </a:solidFill>
          </a:ln>
        </p:spPr>
      </p:sp>
      <p:sp>
        <p:nvSpPr>
          <p:cNvPr id="14" name="a0-t"/>
          <p:cNvSpPr txBox="1"/>
          <p:nvPr/>
        </p:nvSpPr>
        <p:spPr>
          <a:xfrm>
            <a:off x="762000" y="2921000"/>
            <a:ext cx="139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接案员</a:t>
            </a:r>
            <a:endParaRPr lang="en-US" sz="13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4648A"/>
                </a:solidFill>
                <a:latin typeface="MiSans"/>
                <a:ea typeface="MiSans"/>
              </a:rPr>
              <a:t>结构化案情</a:t>
            </a:r>
            <a:endParaRPr lang="en-US" sz="1300" noProof="1"/>
          </a:p>
        </p:txBody>
      </p:sp>
      <p:sp>
        <p:nvSpPr>
          <p:cNvPr id="15" name="ar0"/>
          <p:cNvSpPr/>
          <p:nvPr>
            <p:extLst>
              <p:ext uri="{F5677B7D-0D2A-4D9B-9A5C-6D8D7D0E5A5D}">
                <pptd:line encoding="base64url">eyJ2aWV3Qm94IjpbNTAsMl0sInBvaW50cyI6IjAsMSA1MCwxIn0</pptd:line>
              </p:ext>
            </p:extLst>
          </p:nvPr>
        </p:nvSpPr>
        <p:spPr>
          <a:xfrm>
            <a:off x="2159000" y="3314700"/>
            <a:ext cx="635000" cy="25400"/>
          </a:xfrm>
          <a:custGeom>
            <a:avLst/>
            <a:gdLst/>
            <a:ahLst/>
            <a:cxnLst/>
            <a:rect l="l" t="t" r="r" b="b"/>
            <a:pathLst>
              <a:path w="50" h="2">
                <a:moveTo>
                  <a:pt x="0" y="1"/>
                </a:moveTo>
                <a:lnTo>
                  <a:pt x="50" y="1"/>
                </a:lnTo>
              </a:path>
            </a:pathLst>
          </a:custGeom>
          <a:noFill/>
          <a:ln w="19050" cap="rnd">
            <a:solidFill>
              <a:srgbClr val="2B5CE6"/>
            </a:solidFill>
            <a:round/>
            <a:tailEnd type="arrow"/>
          </a:ln>
        </p:spPr>
      </p:sp>
      <p:sp>
        <p:nvSpPr>
          <p:cNvPr id="16" name="fan1"/>
          <p:cNvSpPr/>
          <p:nvPr>
            <p:extLst>
              <p:ext uri="{F5677B7D-0D2A-4D9B-9A5C-6D8D7D0E5A5D}">
                <pptd:line encoding="base64url">eyJ2aWV3Qm94IjpbNjAsODhdLCJwb2ludHMiOiIwLDg4IDYwLDAifQ</pptd:line>
              </p:ext>
            </p:extLst>
          </p:nvPr>
        </p:nvSpPr>
        <p:spPr>
          <a:xfrm>
            <a:off x="2794000" y="2222500"/>
            <a:ext cx="762000" cy="1117600"/>
          </a:xfrm>
          <a:custGeom>
            <a:avLst/>
            <a:gdLst/>
            <a:ahLst/>
            <a:cxnLst/>
            <a:rect l="l" t="t" r="r" b="b"/>
            <a:pathLst>
              <a:path w="60" h="88">
                <a:moveTo>
                  <a:pt x="0" y="88"/>
                </a:moveTo>
                <a:lnTo>
                  <a:pt x="60" y="0"/>
                </a:lnTo>
              </a:path>
            </a:pathLst>
          </a:custGeom>
          <a:noFill/>
          <a:ln w="19050" cap="rnd">
            <a:solidFill>
              <a:srgbClr val="2B5CE6"/>
            </a:solidFill>
            <a:round/>
            <a:tailEnd type="arrow"/>
          </a:ln>
        </p:spPr>
      </p:sp>
      <p:sp>
        <p:nvSpPr>
          <p:cNvPr id="17" name="fan2"/>
          <p:cNvSpPr/>
          <p:nvPr>
            <p:extLst>
              <p:ext uri="{F5677B7D-0D2A-4D9B-9A5C-6D8D7D0E5A5D}">
                <pptd:line encoding="base64url">eyJ2aWV3Qm94IjpbNjAsMl0sInBvaW50cyI6IjAsMSA2MCwxIn0</pptd:line>
              </p:ext>
            </p:extLst>
          </p:nvPr>
        </p:nvSpPr>
        <p:spPr>
          <a:xfrm>
            <a:off x="2794000" y="33147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1"/>
                </a:moveTo>
                <a:lnTo>
                  <a:pt x="60" y="1"/>
                </a:lnTo>
              </a:path>
            </a:pathLst>
          </a:custGeom>
          <a:noFill/>
          <a:ln w="19050" cap="rnd">
            <a:solidFill>
              <a:srgbClr val="2B5CE6"/>
            </a:solidFill>
            <a:round/>
            <a:tailEnd type="arrow"/>
          </a:ln>
        </p:spPr>
      </p:sp>
      <p:sp>
        <p:nvSpPr>
          <p:cNvPr id="18" name="fan3"/>
          <p:cNvSpPr/>
          <p:nvPr>
            <p:extLst>
              <p:ext uri="{F5677B7D-0D2A-4D9B-9A5C-6D8D7D0E5A5D}">
                <pptd:line encoding="base64url">eyJ2aWV3Qm94IjpbNjAsODhdLCJwb2ludHMiOiIwLDAgNjAsODgifQ</pptd:line>
              </p:ext>
            </p:extLst>
          </p:nvPr>
        </p:nvSpPr>
        <p:spPr>
          <a:xfrm>
            <a:off x="2794000" y="3314700"/>
            <a:ext cx="762000" cy="1117600"/>
          </a:xfrm>
          <a:custGeom>
            <a:avLst/>
            <a:gdLst/>
            <a:ahLst/>
            <a:cxnLst/>
            <a:rect l="l" t="t" r="r" b="b"/>
            <a:pathLst>
              <a:path w="60" h="88">
                <a:moveTo>
                  <a:pt x="0" y="0"/>
                </a:moveTo>
                <a:lnTo>
                  <a:pt x="60" y="88"/>
                </a:lnTo>
              </a:path>
            </a:pathLst>
          </a:custGeom>
          <a:noFill/>
          <a:ln w="19050" cap="rnd">
            <a:solidFill>
              <a:srgbClr val="2B5CE6"/>
            </a:solidFill>
            <a:round/>
            <a:tailEnd type="arrow"/>
          </a:ln>
        </p:spPr>
      </p:sp>
      <p:sp>
        <p:nvSpPr>
          <p:cNvPr id="19" name="a1"/>
          <p:cNvSpPr/>
          <p:nvPr/>
        </p:nvSpPr>
        <p:spPr>
          <a:xfrm>
            <a:off x="3556000" y="1816100"/>
            <a:ext cx="1651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DFF"/>
            </a:solidFill>
          </a:ln>
        </p:spPr>
      </p:sp>
      <p:sp>
        <p:nvSpPr>
          <p:cNvPr id="20" name="a1-t"/>
          <p:cNvSpPr txBox="1"/>
          <p:nvPr/>
        </p:nvSpPr>
        <p:spPr>
          <a:xfrm>
            <a:off x="3556000" y="1816100"/>
            <a:ext cx="1651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话术分析师</a:t>
            </a:r>
            <a:endParaRPr lang="en-US" sz="13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4648A"/>
                </a:solidFill>
                <a:latin typeface="MiSans"/>
                <a:ea typeface="MiSans"/>
              </a:rPr>
              <a:t>剧本类型识别</a:t>
            </a:r>
            <a:endParaRPr lang="en-US" sz="1300" noProof="1"/>
          </a:p>
        </p:txBody>
      </p:sp>
      <p:sp>
        <p:nvSpPr>
          <p:cNvPr id="21" name="a2"/>
          <p:cNvSpPr/>
          <p:nvPr/>
        </p:nvSpPr>
        <p:spPr>
          <a:xfrm>
            <a:off x="3556000" y="2921000"/>
            <a:ext cx="1651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30C"/>
            </a:solidFill>
          </a:ln>
        </p:spPr>
      </p:sp>
      <p:sp>
        <p:nvSpPr>
          <p:cNvPr id="22" name="a2-t"/>
          <p:cNvSpPr txBox="1"/>
          <p:nvPr/>
        </p:nvSpPr>
        <p:spPr>
          <a:xfrm>
            <a:off x="3556000" y="2921000"/>
            <a:ext cx="1651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资金追踪员</a:t>
            </a:r>
            <a:endParaRPr lang="en-US" sz="13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4648A"/>
                </a:solidFill>
                <a:latin typeface="MiSans"/>
                <a:ea typeface="MiSans"/>
              </a:rPr>
              <a:t>资金链路拆解</a:t>
            </a:r>
            <a:endParaRPr lang="en-US" sz="1300" noProof="1"/>
          </a:p>
        </p:txBody>
      </p:sp>
      <p:sp>
        <p:nvSpPr>
          <p:cNvPr id="23" name="a3"/>
          <p:cNvSpPr/>
          <p:nvPr/>
        </p:nvSpPr>
        <p:spPr>
          <a:xfrm>
            <a:off x="3556000" y="4025900"/>
            <a:ext cx="1651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CE6"/>
            </a:solidFill>
          </a:ln>
        </p:spPr>
      </p:sp>
      <p:sp>
        <p:nvSpPr>
          <p:cNvPr id="24" name="a3-t"/>
          <p:cNvSpPr txBox="1"/>
          <p:nvPr/>
        </p:nvSpPr>
        <p:spPr>
          <a:xfrm>
            <a:off x="3556000" y="4025900"/>
            <a:ext cx="1651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通信关联员</a:t>
            </a:r>
            <a:endParaRPr lang="en-US" sz="13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4648A"/>
                </a:solidFill>
                <a:latin typeface="MiSans"/>
                <a:ea typeface="MiSans"/>
              </a:rPr>
              <a:t>通联网络还原</a:t>
            </a:r>
            <a:endParaRPr lang="en-US" sz="1300" noProof="1"/>
          </a:p>
        </p:txBody>
      </p:sp>
      <p:sp>
        <p:nvSpPr>
          <p:cNvPr id="25" name="join1"/>
          <p:cNvSpPr/>
          <p:nvPr>
            <p:extLst>
              <p:ext uri="{F5677B7D-0D2A-4D9B-9A5C-6D8D7D0E5A5D}">
                <pptd:line encoding="base64url">eyJ2aWV3Qm94IjpbNjAsODhdLCJwb2ludHMiOiIwLDAgNjAsODgifQ</pptd:line>
              </p:ext>
            </p:extLst>
          </p:nvPr>
        </p:nvSpPr>
        <p:spPr>
          <a:xfrm>
            <a:off x="5207000" y="2222500"/>
            <a:ext cx="762000" cy="1117600"/>
          </a:xfrm>
          <a:custGeom>
            <a:avLst/>
            <a:gdLst/>
            <a:ahLst/>
            <a:cxnLst/>
            <a:rect l="l" t="t" r="r" b="b"/>
            <a:pathLst>
              <a:path w="60" h="88">
                <a:moveTo>
                  <a:pt x="0" y="0"/>
                </a:moveTo>
                <a:lnTo>
                  <a:pt x="60" y="88"/>
                </a:lnTo>
              </a:path>
            </a:pathLst>
          </a:custGeom>
          <a:noFill/>
          <a:ln w="19050" cap="rnd">
            <a:solidFill>
              <a:srgbClr val="2B5CE6"/>
            </a:solidFill>
            <a:round/>
            <a:tailEnd type="arrow"/>
          </a:ln>
        </p:spPr>
      </p:sp>
      <p:sp>
        <p:nvSpPr>
          <p:cNvPr id="26" name="join2"/>
          <p:cNvSpPr/>
          <p:nvPr>
            <p:extLst>
              <p:ext uri="{F5677B7D-0D2A-4D9B-9A5C-6D8D7D0E5A5D}">
                <pptd:line encoding="base64url">eyJ2aWV3Qm94IjpbNjAsMl0sInBvaW50cyI6IjAsMSA2MCwxIn0</pptd:line>
              </p:ext>
            </p:extLst>
          </p:nvPr>
        </p:nvSpPr>
        <p:spPr>
          <a:xfrm>
            <a:off x="5207000" y="33147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1"/>
                </a:moveTo>
                <a:lnTo>
                  <a:pt x="60" y="1"/>
                </a:lnTo>
              </a:path>
            </a:pathLst>
          </a:custGeom>
          <a:noFill/>
          <a:ln w="19050" cap="rnd">
            <a:solidFill>
              <a:srgbClr val="2B5CE6"/>
            </a:solidFill>
            <a:round/>
            <a:tailEnd type="arrow"/>
          </a:ln>
        </p:spPr>
      </p:sp>
      <p:sp>
        <p:nvSpPr>
          <p:cNvPr id="27" name="join3"/>
          <p:cNvSpPr/>
          <p:nvPr>
            <p:extLst>
              <p:ext uri="{F5677B7D-0D2A-4D9B-9A5C-6D8D7D0E5A5D}">
                <pptd:line encoding="base64url">eyJ2aWV3Qm94IjpbNjAsODhdLCJwb2ludHMiOiIwLDg4IDYwLDAifQ</pptd:line>
              </p:ext>
            </p:extLst>
          </p:nvPr>
        </p:nvSpPr>
        <p:spPr>
          <a:xfrm>
            <a:off x="5207000" y="3314700"/>
            <a:ext cx="762000" cy="1117600"/>
          </a:xfrm>
          <a:custGeom>
            <a:avLst/>
            <a:gdLst/>
            <a:ahLst/>
            <a:cxnLst/>
            <a:rect l="l" t="t" r="r" b="b"/>
            <a:pathLst>
              <a:path w="60" h="88">
                <a:moveTo>
                  <a:pt x="0" y="88"/>
                </a:moveTo>
                <a:lnTo>
                  <a:pt x="60" y="0"/>
                </a:lnTo>
              </a:path>
            </a:pathLst>
          </a:custGeom>
          <a:noFill/>
          <a:ln w="19050" cap="rnd">
            <a:solidFill>
              <a:srgbClr val="2B5CE6"/>
            </a:solidFill>
            <a:round/>
            <a:tailEnd type="arrow"/>
          </a:ln>
        </p:spPr>
      </p:sp>
      <p:sp>
        <p:nvSpPr>
          <p:cNvPr id="28" name="a4"/>
          <p:cNvSpPr/>
          <p:nvPr/>
        </p:nvSpPr>
        <p:spPr>
          <a:xfrm>
            <a:off x="5969000" y="2921000"/>
            <a:ext cx="1524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DFF"/>
            </a:solidFill>
          </a:ln>
        </p:spPr>
      </p:sp>
      <p:sp>
        <p:nvSpPr>
          <p:cNvPr id="29" name="a4-t"/>
          <p:cNvSpPr txBox="1"/>
          <p:nvPr/>
        </p:nvSpPr>
        <p:spPr>
          <a:xfrm>
            <a:off x="5969000" y="2921000"/>
            <a:ext cx="152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图谱合成员</a:t>
            </a:r>
            <a:endParaRPr lang="en-US" sz="13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4648A"/>
                </a:solidFill>
                <a:latin typeface="MiSans"/>
                <a:ea typeface="MiSans"/>
              </a:rPr>
              <a:t>合并证据成图</a:t>
            </a:r>
            <a:endParaRPr lang="en-US" sz="1300" noProof="1"/>
          </a:p>
        </p:txBody>
      </p:sp>
      <p:sp>
        <p:nvSpPr>
          <p:cNvPr id="30" name="ar4"/>
          <p:cNvSpPr/>
          <p:nvPr>
            <p:extLst>
              <p:ext uri="{F5677B7D-0D2A-4D9B-9A5C-6D8D7D0E5A5D}">
                <pptd:line encoding="base64url">eyJ2aWV3Qm94IjpbNTAsMl0sInBvaW50cyI6IjAsMSA1MCwxIn0</pptd:line>
              </p:ext>
            </p:extLst>
          </p:nvPr>
        </p:nvSpPr>
        <p:spPr>
          <a:xfrm>
            <a:off x="7493000" y="3314700"/>
            <a:ext cx="635000" cy="25400"/>
          </a:xfrm>
          <a:custGeom>
            <a:avLst/>
            <a:gdLst/>
            <a:ahLst/>
            <a:cxnLst/>
            <a:rect l="l" t="t" r="r" b="b"/>
            <a:pathLst>
              <a:path w="50" h="2">
                <a:moveTo>
                  <a:pt x="0" y="1"/>
                </a:moveTo>
                <a:lnTo>
                  <a:pt x="50" y="1"/>
                </a:lnTo>
              </a:path>
            </a:pathLst>
          </a:custGeom>
          <a:noFill/>
          <a:ln w="25400" cap="rnd">
            <a:solidFill>
              <a:srgbClr val="2B5CE6"/>
            </a:solidFill>
            <a:round/>
            <a:tailEnd type="arrow"/>
          </a:ln>
        </p:spPr>
      </p:sp>
      <p:sp>
        <p:nvSpPr>
          <p:cNvPr id="31" name="a5"/>
          <p:cNvSpPr/>
          <p:nvPr/>
        </p:nvSpPr>
        <p:spPr>
          <a:xfrm>
            <a:off x="8128000" y="2794000"/>
            <a:ext cx="1651000" cy="1066800"/>
          </a:xfrm>
          <a:prstGeom prst="rect">
            <a:avLst/>
          </a:prstGeom>
          <a:solidFill>
            <a:srgbClr val="FDF0F4"/>
          </a:solidFill>
          <a:ln w="19050">
            <a:solidFill>
              <a:srgbClr val="E5484D"/>
            </a:solidFill>
          </a:ln>
        </p:spPr>
      </p:sp>
      <p:sp>
        <p:nvSpPr>
          <p:cNvPr id="32" name="a5-t"/>
          <p:cNvSpPr txBox="1"/>
          <p:nvPr/>
        </p:nvSpPr>
        <p:spPr>
          <a:xfrm>
            <a:off x="8128000" y="27940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审判官</a:t>
            </a:r>
            <a:endParaRPr lang="en-US" sz="13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E5484D"/>
                </a:solidFill>
                <a:latin typeface="MiSans"/>
                <a:ea typeface="MiSans"/>
              </a:rPr>
              <a:t>核验每条引用</a:t>
            </a:r>
            <a:endParaRPr lang="en-US" sz="13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4648A"/>
                </a:solidFill>
                <a:latin typeface="MiSans"/>
                <a:ea typeface="MiSans"/>
              </a:rPr>
              <a:t>通过 / 打回 / 转人工</a:t>
            </a:r>
            <a:endParaRPr lang="en-US" sz="1300" noProof="1"/>
          </a:p>
        </p:txBody>
      </p:sp>
      <p:sp>
        <p:nvSpPr>
          <p:cNvPr id="33" name="ar5"/>
          <p:cNvSpPr/>
          <p:nvPr>
            <p:extLst>
              <p:ext uri="{F5677B7D-0D2A-4D9B-9A5C-6D8D7D0E5A5D}">
                <pptd:line encoding="base64url">eyJ2aWV3Qm94IjpbNTAsMl0sInBvaW50cyI6IjAsMSA1MCwxIn0</pptd:line>
              </p:ext>
            </p:extLst>
          </p:nvPr>
        </p:nvSpPr>
        <p:spPr>
          <a:xfrm>
            <a:off x="9779000" y="3314700"/>
            <a:ext cx="635000" cy="25400"/>
          </a:xfrm>
          <a:custGeom>
            <a:avLst/>
            <a:gdLst/>
            <a:ahLst/>
            <a:cxnLst/>
            <a:rect l="l" t="t" r="r" b="b"/>
            <a:pathLst>
              <a:path w="50" h="2">
                <a:moveTo>
                  <a:pt x="0" y="1"/>
                </a:moveTo>
                <a:lnTo>
                  <a:pt x="50" y="1"/>
                </a:lnTo>
              </a:path>
            </a:pathLst>
          </a:custGeom>
          <a:noFill/>
          <a:ln w="25400" cap="rnd">
            <a:solidFill>
              <a:srgbClr val="2B5CE6"/>
            </a:solidFill>
            <a:round/>
            <a:tailEnd type="arrow"/>
          </a:ln>
        </p:spPr>
      </p:sp>
      <p:sp>
        <p:nvSpPr>
          <p:cNvPr id="34" name="out"/>
          <p:cNvSpPr/>
          <p:nvPr/>
        </p:nvSpPr>
        <p:spPr>
          <a:xfrm>
            <a:off x="10414000" y="2921000"/>
            <a:ext cx="1143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CE6"/>
            </a:solidFill>
          </a:ln>
        </p:spPr>
      </p:sp>
      <p:sp>
        <p:nvSpPr>
          <p:cNvPr id="35" name="out-t"/>
          <p:cNvSpPr txBox="1"/>
          <p:nvPr/>
        </p:nvSpPr>
        <p:spPr>
          <a:xfrm>
            <a:off x="10414000" y="29210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研判报告</a:t>
            </a:r>
            <a:endParaRPr lang="en-US" sz="12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4648A"/>
                </a:solidFill>
                <a:latin typeface="MiSans"/>
                <a:ea typeface="MiSans"/>
              </a:rPr>
              <a:t>+ 证据图谱</a:t>
            </a:r>
            <a:endParaRPr lang="en-US" sz="1200" noProof="1"/>
          </a:p>
        </p:txBody>
      </p:sp>
      <p:sp>
        <p:nvSpPr>
          <p:cNvPr id="36" name="loop"/>
          <p:cNvSpPr/>
          <p:nvPr>
            <p:extLst>
              <p:ext uri="{F5677B7D-0D2A-4D9B-9A5C-6D8D7D0E5A5D}">
                <pptd:line encoding="base64url">eyJ2aWV3Qm94IjpbMjk1LDcwXSwicG9pbnRzIjoiMjk1LDAgMjk1LDU1IDAsNTUgMCwxMCIsImN1cnZlIjoic2hhcnAifQ</pptd:line>
              </p:ext>
            </p:extLst>
          </p:nvPr>
        </p:nvSpPr>
        <p:spPr>
          <a:xfrm>
            <a:off x="5207000" y="3860800"/>
            <a:ext cx="3746500" cy="889000"/>
          </a:xfrm>
          <a:custGeom>
            <a:avLst/>
            <a:gdLst/>
            <a:ahLst/>
            <a:cxnLst/>
            <a:rect l="l" t="t" r="r" b="b"/>
            <a:pathLst>
              <a:path w="295" h="70">
                <a:moveTo>
                  <a:pt x="295" y="0"/>
                </a:moveTo>
                <a:lnTo>
                  <a:pt x="295" y="55"/>
                </a:lnTo>
                <a:lnTo>
                  <a:pt x="0" y="55"/>
                </a:lnTo>
                <a:lnTo>
                  <a:pt x="0" y="10"/>
                </a:lnTo>
              </a:path>
            </a:pathLst>
          </a:custGeom>
          <a:noFill/>
          <a:ln w="19050">
            <a:solidFill>
              <a:srgbClr val="E5484D"/>
            </a:solidFill>
            <a:prstDash val="dash"/>
            <a:tailEnd type="arrow"/>
          </a:ln>
        </p:spPr>
      </p:sp>
      <p:sp>
        <p:nvSpPr>
          <p:cNvPr id="37" name="loop-label"/>
          <p:cNvSpPr txBox="1"/>
          <p:nvPr/>
        </p:nvSpPr>
        <p:spPr>
          <a:xfrm>
            <a:off x="5588000" y="48260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E5484D"/>
                </a:solidFill>
                <a:latin typeface="MiSans"/>
                <a:ea typeface="MiSans"/>
              </a:rPr>
              <a:t>打回补查：单一来源 SINGLE_SOURCE / 引用无关 NOT_DIRECT</a:t>
            </a:r>
            <a:endParaRPr lang="en-US" sz="1100" noProof="1"/>
          </a:p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E5484D"/>
                </a:solidFill>
                <a:latin typeface="MiSans"/>
                <a:ea typeface="MiSans"/>
              </a:rPr>
              <a:t>第 2 轮仍不足 → 转人工（MAX_ROUNDS = 2）</a:t>
            </a:r>
            <a:endParaRPr lang="en-US" sz="1100" noProof="1"/>
          </a:p>
        </p:txBody>
      </p:sp>
      <p:sp>
        <p:nvSpPr>
          <p:cNvPr id="38" name="legend"/>
          <p:cNvSpPr txBox="1"/>
          <p:nvPr/>
        </p:nvSpPr>
        <p:spPr>
          <a:xfrm>
            <a:off x="762000" y="5588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2B5CE6"/>
                </a:solidFill>
                <a:latin typeface="MiSans"/>
                <a:ea typeface="MiSans"/>
              </a:rPr>
              <a:t>实线：正常证据流</a:t>
            </a: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　</a:t>
            </a:r>
            <a:r>
              <a:rPr lang="en-US" sz="1200" noProof="1">
                <a:solidFill>
                  <a:srgbClr val="E5484D"/>
                </a:solidFill>
                <a:latin typeface="MiSans"/>
                <a:ea typeface="MiSans"/>
              </a:rPr>
              <a:t>虚线：打回回路</a:t>
            </a: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　并行侦查对应真实研判分工，审判官独立于所有侦查角色，裁决规则可程序复算。</a:t>
            </a:r>
            <a:endParaRPr lang="en-US" sz="1200" noProof="1"/>
          </a:p>
        </p:txBody>
      </p:sp>
      <p:sp>
        <p:nvSpPr>
          <p:cNvPr id="39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09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08 · 技术架构 ARCHITECTURE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判案不交给模型：平台编排层 + 确定性工具层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layer1"/>
          <p:cNvSpPr/>
          <p:nvPr/>
        </p:nvSpPr>
        <p:spPr>
          <a:xfrm>
            <a:off x="762000" y="1727200"/>
            <a:ext cx="685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DFF"/>
            </a:solidFill>
          </a:ln>
        </p:spPr>
      </p:sp>
      <p:sp>
        <p:nvSpPr>
          <p:cNvPr id="14" name="layer1-tag"/>
          <p:cNvSpPr txBox="1"/>
          <p:nvPr/>
        </p:nvSpPr>
        <p:spPr>
          <a:xfrm>
            <a:off x="1016000" y="1905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4A7DFF"/>
                </a:solidFill>
                <a:latin typeface="MiSans"/>
                <a:ea typeface="MiSans"/>
              </a:rPr>
              <a:t>平台编排层 · 华为云 AgentArts</a:t>
            </a:r>
            <a:endParaRPr lang="en-US" sz="1200" noProof="1"/>
          </a:p>
        </p:txBody>
      </p:sp>
      <p:sp>
        <p:nvSpPr>
          <p:cNvPr id="15" name="layer1-body"/>
          <p:cNvSpPr txBox="1"/>
          <p:nvPr/>
        </p:nvSpPr>
        <p:spPr>
          <a:xfrm>
            <a:off x="1016000" y="2260600"/>
            <a:ext cx="6350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六个角色与工作流搭建在 AgentArts 多智能体模式上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平台负责调度与对话编排，角色间以结构化结果交接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本地规则基线 v0.3.1-r7 保留，作对照与演示兜底</a:t>
            </a:r>
            <a:endParaRPr lang="en-US" sz="1200" noProof="1"/>
          </a:p>
        </p:txBody>
      </p:sp>
      <p:sp>
        <p:nvSpPr>
          <p:cNvPr id="16" name="layer-link"/>
          <p:cNvSpPr/>
          <p:nvPr>
            <p:extLst>
              <p:ext uri="{F5677B7D-0D2A-4D9B-9A5C-6D8D7D0E5A5D}">
                <pptd:line encoding="base64url">eyJ2aWV3Qm94IjpbMTAsNDRdLCJwb2ludHMiOiI1LDAgNSw0NCJ9</pptd:line>
              </p:ext>
            </p:extLst>
          </p:nvPr>
        </p:nvSpPr>
        <p:spPr>
          <a:xfrm>
            <a:off x="4127500" y="3632200"/>
            <a:ext cx="127000" cy="558800"/>
          </a:xfrm>
          <a:custGeom>
            <a:avLst/>
            <a:gdLst/>
            <a:ahLst/>
            <a:cxnLst/>
            <a:rect l="l" t="t" r="r" b="b"/>
            <a:pathLst>
              <a:path w="10" h="44">
                <a:moveTo>
                  <a:pt x="5" y="0"/>
                </a:moveTo>
                <a:lnTo>
                  <a:pt x="5" y="44"/>
                </a:lnTo>
              </a:path>
            </a:pathLst>
          </a:custGeom>
          <a:noFill/>
          <a:ln w="25400" cap="rnd">
            <a:solidFill>
              <a:srgbClr val="2B5CE6"/>
            </a:solidFill>
            <a:round/>
            <a:headEnd type="arrow"/>
            <a:tailEnd type="arrow"/>
          </a:ln>
        </p:spPr>
      </p:sp>
      <p:sp>
        <p:nvSpPr>
          <p:cNvPr id="17" name="layer-link-label"/>
          <p:cNvSpPr txBox="1"/>
          <p:nvPr/>
        </p:nvSpPr>
        <p:spPr>
          <a:xfrm>
            <a:off x="4381500" y="3708400"/>
            <a:ext cx="304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5CE6"/>
                </a:solidFill>
                <a:latin typeface="MiSans"/>
                <a:ea typeface="MiSans"/>
              </a:rPr>
              <a:t>只读调用 · 逐条带编号返回</a:t>
            </a:r>
            <a:endParaRPr lang="en-US" sz="1100" noProof="1"/>
          </a:p>
        </p:txBody>
      </p:sp>
      <p:sp>
        <p:nvSpPr>
          <p:cNvPr id="18" name="layer2"/>
          <p:cNvSpPr/>
          <p:nvPr/>
        </p:nvSpPr>
        <p:spPr>
          <a:xfrm>
            <a:off x="762000" y="4191000"/>
            <a:ext cx="685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CE6"/>
            </a:solidFill>
          </a:ln>
        </p:spPr>
      </p:sp>
      <p:sp>
        <p:nvSpPr>
          <p:cNvPr id="19" name="layer2-tag"/>
          <p:cNvSpPr txBox="1"/>
          <p:nvPr/>
        </p:nvSpPr>
        <p:spPr>
          <a:xfrm>
            <a:off x="1016000" y="436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自研工具层 · 只读数据与确定性核验</a:t>
            </a:r>
            <a:endParaRPr lang="en-US" sz="1200" noProof="1"/>
          </a:p>
        </p:txBody>
      </p:sp>
      <p:sp>
        <p:nvSpPr>
          <p:cNvPr id="20" name="layer2-body"/>
          <p:cNvSpPr txBox="1"/>
          <p:nvPr/>
        </p:nvSpPr>
        <p:spPr>
          <a:xfrm>
            <a:off x="1016000" y="4724400"/>
            <a:ext cx="635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只读数据接口双封装：API 插件（OpenAPI 3.0，仅 GET）+ 自定义 MCP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话术识别 Skill：5 类剧本判定，含"不该报警"难负例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证据核验做成确定性工具：编号存在性、证据类别、与本人相关性由程序裁决</a:t>
            </a:r>
            <a:endParaRPr lang="en-US" sz="1200" noProof="1"/>
          </a:p>
        </p:txBody>
      </p:sp>
      <p:sp>
        <p:nvSpPr>
          <p:cNvPr id="21" name="right-title"/>
          <p:cNvSpPr txBox="1"/>
          <p:nvPr/>
        </p:nvSpPr>
        <p:spPr>
          <a:xfrm>
            <a:off x="8128000" y="1778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为什么这么分层</a:t>
            </a:r>
            <a:endParaRPr lang="en-US" sz="1500" noProof="1"/>
          </a:p>
        </p:txBody>
      </p:sp>
      <p:sp>
        <p:nvSpPr>
          <p:cNvPr id="22" name="right-body"/>
          <p:cNvSpPr txBox="1"/>
          <p:nvPr/>
        </p:nvSpPr>
        <p:spPr>
          <a:xfrm>
            <a:off x="8128000" y="2159000"/>
            <a:ext cx="3556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模型擅长调查和写理由，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但不擅长"保证每条引用是真的"。</a:t>
            </a:r>
            <a:endParaRPr lang="en-US" sz="1200" noProof="1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把指认的放行权交给确定性工具：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编号查得到、类别够两类、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且与本人直接相关，才算数。</a:t>
            </a:r>
            <a:endParaRPr lang="en-US" sz="1200" noProof="1"/>
          </a:p>
        </p:txBody>
      </p:sp>
      <p:sp>
        <p:nvSpPr>
          <p:cNvPr id="23" name="right-line"/>
          <p:cNvSpPr/>
          <p:nvPr/>
        </p:nvSpPr>
        <p:spPr>
          <a:xfrm>
            <a:off x="8128000" y="3810000"/>
            <a:ext cx="3556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4" name="right-quote"/>
          <p:cNvSpPr txBox="1"/>
          <p:nvPr/>
        </p:nvSpPr>
        <p:spPr>
          <a:xfrm>
            <a:off x="8128000" y="4038600"/>
            <a:ext cx="3556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600" noProof="1">
                <a:solidFill>
                  <a:srgbClr val="2B5CE6"/>
                </a:solidFill>
                <a:latin typeface="Alimama ShuHeiTi"/>
                <a:ea typeface="Alimama ShuHeiTi"/>
              </a:rPr>
              <a:t>模型负责侦查，</a:t>
            </a:r>
            <a:endParaRPr lang="en-US" sz="1600" noProof="1"/>
          </a:p>
          <a:p>
            <a:pPr>
              <a:lnSpc>
                <a:spcPct val="160000"/>
              </a:lnSpc>
            </a:pPr>
            <a:r>
              <a:rPr lang="en-US" sz="1600" noProof="1">
                <a:solidFill>
                  <a:srgbClr val="2B5CE6"/>
                </a:solidFill>
                <a:latin typeface="Alimama ShuHeiTi"/>
                <a:ea typeface="Alimama ShuHeiTi"/>
              </a:rPr>
              <a:t>工具负责放行。</a:t>
            </a:r>
            <a:endParaRPr lang="en-US" sz="1600" noProof="1"/>
          </a:p>
        </p:txBody>
      </p:sp>
      <p:sp>
        <p:nvSpPr>
          <p:cNvPr id="25" name="right-note"/>
          <p:cNvSpPr txBox="1"/>
          <p:nvPr/>
        </p:nvSpPr>
        <p:spPr>
          <a:xfrm>
            <a:off x="8128000" y="5207000"/>
            <a:ext cx="355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进度说明：本地规则基线已跑通并完成评测；AgentArts 平台接线进行中，平台成绩待补。</a:t>
            </a:r>
            <a:endParaRPr lang="en-US" sz="1100" noProof="1"/>
          </a:p>
        </p:txBody>
      </p:sp>
      <p:sp>
        <p:nvSpPr>
          <p:cNvPr id="26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10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09 · 核心机制 EVIDENCE GATE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证据门禁：一条指认要过三道关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g1-num"/>
          <p:cNvSpPr txBox="1"/>
          <p:nvPr/>
        </p:nvSpPr>
        <p:spPr>
          <a:xfrm>
            <a:off x="762000" y="17780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2B5CE6"/>
                </a:solidFill>
                <a:latin typeface="Alimama ShuHeiTi"/>
                <a:ea typeface="Alimama ShuHeiTi"/>
              </a:rPr>
              <a:t>Ⅰ</a:t>
            </a:r>
            <a:endParaRPr lang="en-US" sz="3000" noProof="1"/>
          </a:p>
        </p:txBody>
      </p:sp>
      <p:sp>
        <p:nvSpPr>
          <p:cNvPr id="14" name="g1-title"/>
          <p:cNvSpPr txBox="1"/>
          <p:nvPr/>
        </p:nvSpPr>
        <p:spPr>
          <a:xfrm>
            <a:off x="1524000" y="1803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6233F"/>
                </a:solidFill>
                <a:latin typeface="MiSans"/>
                <a:ea typeface="MiSans"/>
              </a:rPr>
              <a:t>覆盖 ≥ 2 类独立证据</a:t>
            </a:r>
            <a:endParaRPr lang="en-US" sz="1600" noProof="1"/>
          </a:p>
        </p:txBody>
      </p:sp>
      <p:sp>
        <p:nvSpPr>
          <p:cNvPr id="15" name="g1-body"/>
          <p:cNvSpPr txBox="1"/>
          <p:nvPr/>
        </p:nvSpPr>
        <p:spPr>
          <a:xfrm>
            <a:off x="1524000" y="2159000"/>
            <a:ext cx="596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话术、资金、通信三类中至少两类互相印证；受害人陈述不计入独立证据</a:t>
            </a:r>
            <a:endParaRPr lang="en-US" sz="1200" noProof="1"/>
          </a:p>
        </p:txBody>
      </p:sp>
      <p:sp>
        <p:nvSpPr>
          <p:cNvPr id="16" name="g1-line"/>
          <p:cNvSpPr/>
          <p:nvPr/>
        </p:nvSpPr>
        <p:spPr>
          <a:xfrm>
            <a:off x="762000" y="2743200"/>
            <a:ext cx="6731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7" name="g2-num"/>
          <p:cNvSpPr txBox="1"/>
          <p:nvPr/>
        </p:nvSpPr>
        <p:spPr>
          <a:xfrm>
            <a:off x="762000" y="29464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2B5CE6"/>
                </a:solidFill>
                <a:latin typeface="Alimama ShuHeiTi"/>
                <a:ea typeface="Alimama ShuHeiTi"/>
              </a:rPr>
              <a:t>Ⅱ</a:t>
            </a:r>
            <a:endParaRPr lang="en-US" sz="3000" noProof="1"/>
          </a:p>
        </p:txBody>
      </p:sp>
      <p:sp>
        <p:nvSpPr>
          <p:cNvPr id="18" name="g2-title"/>
          <p:cNvSpPr txBox="1"/>
          <p:nvPr/>
        </p:nvSpPr>
        <p:spPr>
          <a:xfrm>
            <a:off x="1524000" y="29718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6233F"/>
                </a:solidFill>
                <a:latin typeface="MiSans"/>
                <a:ea typeface="MiSans"/>
              </a:rPr>
              <a:t>每条引用都能按编号查到</a:t>
            </a:r>
            <a:endParaRPr lang="en-US" sz="1600" noProof="1"/>
          </a:p>
        </p:txBody>
      </p:sp>
      <p:sp>
        <p:nvSpPr>
          <p:cNvPr id="19" name="g2-body"/>
          <p:cNvSpPr txBox="1"/>
          <p:nvPr/>
        </p:nvSpPr>
        <p:spPr>
          <a:xfrm>
            <a:off x="1524000" y="3327400"/>
            <a:ext cx="596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引用必须是数据源里真实存在的记录编号，工具逐条核验，对不上即打回</a:t>
            </a:r>
            <a:endParaRPr lang="en-US" sz="1200" noProof="1"/>
          </a:p>
        </p:txBody>
      </p:sp>
      <p:sp>
        <p:nvSpPr>
          <p:cNvPr id="20" name="g2-line"/>
          <p:cNvSpPr/>
          <p:nvPr/>
        </p:nvSpPr>
        <p:spPr>
          <a:xfrm>
            <a:off x="762000" y="3911600"/>
            <a:ext cx="6731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1" name="g3-num"/>
          <p:cNvSpPr txBox="1"/>
          <p:nvPr/>
        </p:nvSpPr>
        <p:spPr>
          <a:xfrm>
            <a:off x="762000" y="41148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2B5CE6"/>
                </a:solidFill>
                <a:latin typeface="Alimama ShuHeiTi"/>
                <a:ea typeface="Alimama ShuHeiTi"/>
              </a:rPr>
              <a:t>Ⅲ</a:t>
            </a:r>
            <a:endParaRPr lang="en-US" sz="3000" noProof="1"/>
          </a:p>
        </p:txBody>
      </p:sp>
      <p:sp>
        <p:nvSpPr>
          <p:cNvPr id="22" name="g3-title"/>
          <p:cNvSpPr txBox="1"/>
          <p:nvPr/>
        </p:nvSpPr>
        <p:spPr>
          <a:xfrm>
            <a:off x="1524000" y="41402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6233F"/>
                </a:solidFill>
                <a:latin typeface="MiSans"/>
                <a:ea typeface="MiSans"/>
              </a:rPr>
              <a:t>证据必须与本人直接相关</a:t>
            </a:r>
            <a:endParaRPr lang="en-US" sz="1600" noProof="1"/>
          </a:p>
        </p:txBody>
      </p:sp>
      <p:sp>
        <p:nvSpPr>
          <p:cNvPr id="23" name="g3-body"/>
          <p:cNvSpPr txBox="1"/>
          <p:nvPr/>
        </p:nvSpPr>
        <p:spPr>
          <a:xfrm>
            <a:off x="1524000" y="4495800"/>
            <a:ext cx="596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本人须是通话 / 转账 / 聊天的当事方或设备持有人；拿别人的证据指认，直接打回</a:t>
            </a:r>
            <a:endParaRPr lang="en-US" sz="1200" noProof="1"/>
          </a:p>
        </p:txBody>
      </p:sp>
      <p:sp>
        <p:nvSpPr>
          <p:cNvPr id="24" name="flow-box"/>
          <p:cNvSpPr/>
          <p:nvPr/>
        </p:nvSpPr>
        <p:spPr>
          <a:xfrm>
            <a:off x="7874000" y="1778000"/>
            <a:ext cx="3556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E"/>
            </a:solidFill>
          </a:ln>
        </p:spPr>
      </p:sp>
      <p:sp>
        <p:nvSpPr>
          <p:cNvPr id="25" name="flow-title"/>
          <p:cNvSpPr txBox="1"/>
          <p:nvPr/>
        </p:nvSpPr>
        <p:spPr>
          <a:xfrm>
            <a:off x="8128000" y="1955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实际规则核验结果</a:t>
            </a:r>
          </a:p>
        </p:txBody>
      </p:sp>
      <p:sp>
        <p:nvSpPr>
          <p:cNvPr id="29" name="test-box"/>
          <p:cNvSpPr/>
          <p:nvPr/>
        </p:nvSpPr>
        <p:spPr>
          <a:xfrm>
            <a:off x="762000" y="5334000"/>
            <a:ext cx="10668000" cy="812800"/>
          </a:xfrm>
          <a:prstGeom prst="rect">
            <a:avLst/>
          </a:prstGeom>
          <a:solidFill>
            <a:srgbClr val="E9F0FC"/>
          </a:solidFill>
          <a:ln w="12700">
            <a:solidFill>
              <a:srgbClr val="C9D6EE"/>
            </a:solidFill>
          </a:ln>
        </p:spPr>
      </p:sp>
      <p:sp>
        <p:nvSpPr>
          <p:cNvPr id="30" name="test-icon"/>
          <p:cNvSpPr/>
          <p:nvPr>
            <p:extLst>
              <p:ext uri="{F5677B7D-0D2A-4D9B-9A5C-6D8D7D0E5A5D}">
                <pptd:icon encoding="base64url">eyJpY29uTmFtZSI6ImZhczp2aWFsLWNpcmNsZS1jaGVjayJ9</pptd:icon>
              </p:ext>
            </p:extLst>
          </p:nvPr>
        </p:nvSpPr>
        <p:spPr>
          <a:xfrm>
            <a:off x="1066800" y="5562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32" y="14"/>
                  <a:pt x="46" y="0"/>
                  <a:pt x="64" y="0"/>
                </a:cubicBezTo>
                <a:lnTo>
                  <a:pt x="288" y="0"/>
                </a:lnTo>
                <a:cubicBezTo>
                  <a:pt x="306" y="0"/>
                  <a:pt x="320" y="14"/>
                  <a:pt x="320" y="32"/>
                </a:cubicBezTo>
                <a:cubicBezTo>
                  <a:pt x="320" y="50"/>
                  <a:pt x="306" y="64"/>
                  <a:pt x="288" y="64"/>
                </a:cubicBezTo>
                <a:lnTo>
                  <a:pt x="288" y="225"/>
                </a:lnTo>
                <a:cubicBezTo>
                  <a:pt x="222" y="256"/>
                  <a:pt x="176" y="323"/>
                  <a:pt x="176" y="400"/>
                </a:cubicBezTo>
                <a:cubicBezTo>
                  <a:pt x="176" y="440"/>
                  <a:pt x="188" y="477"/>
                  <a:pt x="209" y="507"/>
                </a:cubicBezTo>
                <a:cubicBezTo>
                  <a:pt x="198" y="510"/>
                  <a:pt x="187" y="512"/>
                  <a:pt x="176" y="512"/>
                </a:cubicBezTo>
                <a:cubicBezTo>
                  <a:pt x="114" y="512"/>
                  <a:pt x="64" y="462"/>
                  <a:pt x="64" y="400"/>
                </a:cubicBezTo>
                <a:lnTo>
                  <a:pt x="64" y="64"/>
                </a:lnTo>
                <a:cubicBezTo>
                  <a:pt x="46" y="64"/>
                  <a:pt x="32" y="50"/>
                  <a:pt x="32" y="32"/>
                </a:cubicBezTo>
                <a:close/>
                <a:moveTo>
                  <a:pt x="128" y="64"/>
                </a:moveTo>
                <a:lnTo>
                  <a:pt x="128" y="192"/>
                </a:lnTo>
                <a:lnTo>
                  <a:pt x="224" y="192"/>
                </a:lnTo>
                <a:lnTo>
                  <a:pt x="224" y="64"/>
                </a:lnTo>
                <a:lnTo>
                  <a:pt x="128" y="64"/>
                </a:lnTo>
                <a:close/>
              </a:path>
              <a:path w="512" h="512">
                <a:moveTo>
                  <a:pt x="224" y="400"/>
                </a:moveTo>
                <a:cubicBezTo>
                  <a:pt x="224" y="320"/>
                  <a:pt x="288" y="256"/>
                  <a:pt x="368" y="256"/>
                </a:cubicBezTo>
                <a:cubicBezTo>
                  <a:pt x="448" y="256"/>
                  <a:pt x="512" y="320"/>
                  <a:pt x="512" y="400"/>
                </a:cubicBezTo>
                <a:cubicBezTo>
                  <a:pt x="512" y="480"/>
                  <a:pt x="448" y="544"/>
                  <a:pt x="368" y="544"/>
                </a:cubicBezTo>
                <a:cubicBezTo>
                  <a:pt x="288" y="544"/>
                  <a:pt x="224" y="480"/>
                  <a:pt x="224" y="400"/>
                </a:cubicBezTo>
                <a:close/>
                <a:moveTo>
                  <a:pt x="425" y="339"/>
                </a:moveTo>
                <a:cubicBezTo>
                  <a:pt x="418" y="334"/>
                  <a:pt x="408" y="336"/>
                  <a:pt x="403" y="343"/>
                </a:cubicBezTo>
                <a:lnTo>
                  <a:pt x="350" y="416"/>
                </a:lnTo>
                <a:lnTo>
                  <a:pt x="323" y="389"/>
                </a:lnTo>
                <a:cubicBezTo>
                  <a:pt x="317" y="383"/>
                  <a:pt x="307" y="383"/>
                  <a:pt x="301" y="389"/>
                </a:cubicBezTo>
                <a:cubicBezTo>
                  <a:pt x="294" y="395"/>
                  <a:pt x="294" y="405"/>
                  <a:pt x="301" y="411"/>
                </a:cubicBezTo>
                <a:lnTo>
                  <a:pt x="341" y="451"/>
                </a:lnTo>
                <a:cubicBezTo>
                  <a:pt x="344" y="455"/>
                  <a:pt x="348" y="456"/>
                  <a:pt x="353" y="456"/>
                </a:cubicBezTo>
                <a:cubicBezTo>
                  <a:pt x="358" y="456"/>
                  <a:pt x="362" y="453"/>
                  <a:pt x="365" y="449"/>
                </a:cubicBezTo>
                <a:lnTo>
                  <a:pt x="429" y="361"/>
                </a:lnTo>
                <a:cubicBezTo>
                  <a:pt x="434" y="354"/>
                  <a:pt x="433" y="344"/>
                  <a:pt x="425" y="339"/>
                </a:cubicBezTo>
                <a:close/>
              </a:path>
            </a:pathLst>
          </a:custGeom>
          <a:solidFill>
            <a:srgbClr val="2B5CE6"/>
          </a:solidFill>
          <a:ln>
            <a:noFill/>
          </a:ln>
        </p:spPr>
      </p:sp>
      <p:sp>
        <p:nvSpPr>
          <p:cNvPr id="31" name="test-t"/>
          <p:cNvSpPr txBox="1"/>
          <p:nvPr/>
        </p:nvSpPr>
        <p:spPr>
          <a:xfrm>
            <a:off x="1600200" y="54864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故障注入测试：把"与本人无关的证据"故意喂给审判官，</a:t>
            </a: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24 / 24 全部被 NOT_DIRECT 打回</a:t>
            </a: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（本地规则基线 v0.3.1-r7，合成数据，2026-10-04）</a:t>
            </a:r>
            <a:endParaRPr lang="en-US" sz="1200" noProof="1"/>
          </a:p>
        </p:txBody>
      </p:sp>
      <p:sp>
        <p:nvSpPr>
          <p:cNvPr id="32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  <p:pic>
        <p:nvPicPr>
          <p:cNvPr id="33" name="真实项目截图-rule" descr="；来源 http://127.0.0.1:5174/，2026-10-27；案例内容为合成演示数据，回放不代表本次在线模型调用。">
            <a:extLst>
              <a:ext uri="{FF2B5EF4-FFF2-40B4-BE49-F238E27FC236}">
                <a16:creationId xmlns:a16="http://schemas.microsoft.com/office/drawing/2014/main" id="{9F14C027-2A6E-4C0D-883F-CA113DF96E84}"/>
              </a:ext>
            </a:extLst>
          </p:cNvPr>
          <p:cNvPicPr>
            <a:picLocks noChangeAspect="1"/>
          </p:cNvPicPr>
          <p:nvPr/>
        </p:nvPicPr>
        <p:blipFill>
          <a:blip r:embed="rIdRealProjectScreenshot"/>
          <a:stretch/>
        </p:blipFill>
        <p:spPr>
          <a:xfrm>
            <a:off x="8096250" y="2230582"/>
            <a:ext cx="3048000" cy="27016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11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10 · 方法创新 SYNTHETIC CITY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先造一座"合成城市"，让 agent 自己判，再和真相对照打分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st1"/>
          <p:cNvSpPr txBox="1"/>
          <p:nvPr/>
        </p:nvSpPr>
        <p:spPr>
          <a:xfrm>
            <a:off x="762000" y="1651000"/>
            <a:ext cx="2413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2000" noProof="1">
                <a:solidFill>
                  <a:srgbClr val="2B5CE6"/>
                </a:solidFill>
                <a:latin typeface="Alimama ShuHeiTi"/>
                <a:ea typeface="Alimama ShuHeiTi"/>
              </a:rPr>
              <a:t>①</a:t>
            </a: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 </a:t>
            </a: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生成城市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3000 居民 · 4 团伙 · 12 报案 · 8 干扰人物，生成时同步写出隐藏真相（gold）</a:t>
            </a:r>
            <a:endParaRPr lang="en-US" sz="1300" noProof="1"/>
          </a:p>
        </p:txBody>
      </p:sp>
      <p:sp>
        <p:nvSpPr>
          <p:cNvPr id="14" name="st1-arrow"/>
          <p:cNvSpPr/>
          <p:nvPr>
            <p:extLst>
              <p:ext uri="{F5677B7D-0D2A-4D9B-9A5C-6D8D7D0E5A5D}">
                <pptd:line encoding="base64url">eyJ2aWV3Qm94IjpbOTAsMl0sInBvaW50cyI6IjAsMSA5MCwxIn0</pptd:line>
              </p:ext>
            </p:extLst>
          </p:nvPr>
        </p:nvSpPr>
        <p:spPr>
          <a:xfrm>
            <a:off x="762000" y="2844800"/>
            <a:ext cx="1143000" cy="25400"/>
          </a:xfrm>
          <a:custGeom>
            <a:avLst/>
            <a:gdLst/>
            <a:ahLst/>
            <a:cxnLst/>
            <a:rect l="l" t="t" r="r" b="b"/>
            <a:pathLst>
              <a:path w="90" h="2">
                <a:moveTo>
                  <a:pt x="0" y="1"/>
                </a:moveTo>
                <a:lnTo>
                  <a:pt x="90" y="1"/>
                </a:lnTo>
              </a:path>
            </a:pathLst>
          </a:custGeom>
          <a:noFill/>
          <a:ln w="19050" cap="rnd">
            <a:solidFill>
              <a:srgbClr val="C9D6EE"/>
            </a:solidFill>
            <a:round/>
            <a:tailEnd type="arrow"/>
          </a:ln>
        </p:spPr>
      </p:sp>
      <p:sp>
        <p:nvSpPr>
          <p:cNvPr id="15" name="st2"/>
          <p:cNvSpPr txBox="1"/>
          <p:nvPr/>
        </p:nvSpPr>
        <p:spPr>
          <a:xfrm>
            <a:off x="762000" y="3048000"/>
            <a:ext cx="2413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2000" noProof="1">
                <a:solidFill>
                  <a:srgbClr val="2B5CE6"/>
                </a:solidFill>
                <a:latin typeface="Alimama ShuHeiTi"/>
                <a:ea typeface="Alimama ShuHeiTi"/>
              </a:rPr>
              <a:t>②</a:t>
            </a: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 </a:t>
            </a: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agent 盲判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数据无种子、无 is_decoy 字段，agent 完全看不到答案，只能凭证据研判</a:t>
            </a:r>
            <a:endParaRPr lang="en-US" sz="1300" noProof="1"/>
          </a:p>
        </p:txBody>
      </p:sp>
      <p:sp>
        <p:nvSpPr>
          <p:cNvPr id="16" name="st2-arrow"/>
          <p:cNvSpPr/>
          <p:nvPr>
            <p:extLst>
              <p:ext uri="{F5677B7D-0D2A-4D9B-9A5C-6D8D7D0E5A5D}">
                <pptd:line encoding="base64url">eyJ2aWV3Qm94IjpbOTAsMl0sInBvaW50cyI6IjAsMSA5MCwxIn0</pptd:line>
              </p:ext>
            </p:extLst>
          </p:nvPr>
        </p:nvSpPr>
        <p:spPr>
          <a:xfrm>
            <a:off x="762000" y="4241800"/>
            <a:ext cx="1143000" cy="25400"/>
          </a:xfrm>
          <a:custGeom>
            <a:avLst/>
            <a:gdLst/>
            <a:ahLst/>
            <a:cxnLst/>
            <a:rect l="l" t="t" r="r" b="b"/>
            <a:pathLst>
              <a:path w="90" h="2">
                <a:moveTo>
                  <a:pt x="0" y="1"/>
                </a:moveTo>
                <a:lnTo>
                  <a:pt x="90" y="1"/>
                </a:lnTo>
              </a:path>
            </a:pathLst>
          </a:custGeom>
          <a:noFill/>
          <a:ln w="19050" cap="rnd">
            <a:solidFill>
              <a:srgbClr val="C9D6EE"/>
            </a:solidFill>
            <a:round/>
            <a:tailEnd type="arrow"/>
          </a:ln>
        </p:spPr>
      </p:sp>
      <p:sp>
        <p:nvSpPr>
          <p:cNvPr id="17" name="st3"/>
          <p:cNvSpPr txBox="1"/>
          <p:nvPr/>
        </p:nvSpPr>
        <p:spPr>
          <a:xfrm>
            <a:off x="762000" y="4445000"/>
            <a:ext cx="2413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2000" noProof="1">
                <a:solidFill>
                  <a:srgbClr val="2B5CE6"/>
                </a:solidFill>
                <a:latin typeface="Alimama ShuHeiTi"/>
                <a:ea typeface="Alimama ShuHeiTi"/>
              </a:rPr>
              <a:t>③</a:t>
            </a: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 </a:t>
            </a:r>
            <a:r>
              <a:rPr lang="en-US" sz="1300" noProof="1" b="1">
                <a:solidFill>
                  <a:srgbClr val="16233F"/>
                </a:solidFill>
                <a:latin typeface="MiSans"/>
                <a:ea typeface="MiSans"/>
              </a:rPr>
              <a:t>对照打分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指认结果与隐藏真相逐人比对：指对、漏判、误伤、转人工，全部量化</a:t>
            </a:r>
            <a:endParaRPr lang="en-US" sz="1300" noProof="1"/>
          </a:p>
        </p:txBody>
      </p:sp>
      <p:sp>
        <p:nvSpPr>
          <p:cNvPr id="18" name="vs-box"/>
          <p:cNvSpPr/>
          <p:nvPr/>
        </p:nvSpPr>
        <p:spPr>
          <a:xfrm>
            <a:off x="3683000" y="1651000"/>
            <a:ext cx="495300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E"/>
            </a:solidFill>
          </a:ln>
        </p:spPr>
      </p:sp>
      <p:sp>
        <p:nvSpPr>
          <p:cNvPr id="19" name="vs-title"/>
          <p:cNvSpPr txBox="1"/>
          <p:nvPr/>
        </p:nvSpPr>
        <p:spPr>
          <a:xfrm>
            <a:off x="3937000" y="18288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93D82"/>
                </a:solidFill>
                <a:latin typeface="MiSans"/>
                <a:ea typeface="MiSans"/>
              </a:rPr>
              <a:t>自我判断 与 真相 的对照结果</a:t>
            </a:r>
            <a:endParaRPr lang="en-US" sz="1100" noProof="1"/>
          </a:p>
        </p:txBody>
      </p:sp>
      <p:sp>
        <p:nvSpPr>
          <p:cNvPr id="20" name="vs1-label"/>
          <p:cNvSpPr txBox="1"/>
          <p:nvPr/>
        </p:nvSpPr>
        <p:spPr>
          <a:xfrm>
            <a:off x="3937000" y="2235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84 名团伙成员，指认对了</a:t>
            </a:r>
            <a:endParaRPr lang="en-US" sz="1200" noProof="1"/>
          </a:p>
        </p:txBody>
      </p:sp>
      <p:sp>
        <p:nvSpPr>
          <p:cNvPr id="21" name="vs1-bg"/>
          <p:cNvSpPr/>
          <p:nvPr/>
        </p:nvSpPr>
        <p:spPr>
          <a:xfrm>
            <a:off x="3937000" y="2514600"/>
            <a:ext cx="3810000" cy="203200"/>
          </a:xfrm>
          <a:prstGeom prst="rect">
            <a:avLst/>
          </a:prstGeom>
          <a:solidFill>
            <a:srgbClr val="E9F0FC"/>
          </a:solidFill>
          <a:ln>
            <a:noFill/>
          </a:ln>
        </p:spPr>
      </p:sp>
      <p:sp>
        <p:nvSpPr>
          <p:cNvPr id="22" name="vs1-fill"/>
          <p:cNvSpPr/>
          <p:nvPr/>
        </p:nvSpPr>
        <p:spPr>
          <a:xfrm>
            <a:off x="3937000" y="2514600"/>
            <a:ext cx="2997200" cy="203200"/>
          </a:xfrm>
          <a:prstGeom prst="rect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23" name="vs1-val"/>
          <p:cNvSpPr txBox="1"/>
          <p:nvPr/>
        </p:nvSpPr>
        <p:spPr>
          <a:xfrm>
            <a:off x="7874000" y="24892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B5CE6"/>
                </a:solidFill>
                <a:latin typeface="MiSans"/>
                <a:ea typeface="MiSans"/>
              </a:rPr>
              <a:t>66 人</a:t>
            </a:r>
            <a:endParaRPr lang="en-US" sz="1200" noProof="1"/>
          </a:p>
        </p:txBody>
      </p:sp>
      <p:sp>
        <p:nvSpPr>
          <p:cNvPr id="24" name="vs2-label"/>
          <p:cNvSpPr txBox="1"/>
          <p:nvPr/>
        </p:nvSpPr>
        <p:spPr>
          <a:xfrm>
            <a:off x="3937000" y="2895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冤枉普通人</a:t>
            </a:r>
            <a:endParaRPr lang="en-US" sz="1200" noProof="1"/>
          </a:p>
        </p:txBody>
      </p:sp>
      <p:sp>
        <p:nvSpPr>
          <p:cNvPr id="25" name="vs2-bg"/>
          <p:cNvSpPr/>
          <p:nvPr/>
        </p:nvSpPr>
        <p:spPr>
          <a:xfrm>
            <a:off x="3937000" y="3175000"/>
            <a:ext cx="3810000" cy="203200"/>
          </a:xfrm>
          <a:prstGeom prst="rect">
            <a:avLst/>
          </a:prstGeom>
          <a:solidFill>
            <a:srgbClr val="E9F0FC"/>
          </a:solidFill>
          <a:ln>
            <a:noFill/>
          </a:ln>
        </p:spPr>
      </p:sp>
      <p:sp>
        <p:nvSpPr>
          <p:cNvPr id="26" name="vs2-val"/>
          <p:cNvSpPr txBox="1"/>
          <p:nvPr/>
        </p:nvSpPr>
        <p:spPr>
          <a:xfrm>
            <a:off x="7874000" y="3149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B5CE6"/>
                </a:solidFill>
                <a:latin typeface="MiSans"/>
                <a:ea typeface="MiSans"/>
              </a:rPr>
              <a:t>0</a:t>
            </a:r>
            <a:endParaRPr lang="en-US" sz="1200" noProof="1"/>
          </a:p>
        </p:txBody>
      </p:sp>
      <p:sp>
        <p:nvSpPr>
          <p:cNvPr id="27" name="vs3-label"/>
          <p:cNvSpPr txBox="1"/>
          <p:nvPr/>
        </p:nvSpPr>
        <p:spPr>
          <a:xfrm>
            <a:off x="3937000" y="35560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干扰人物（专门埋的"像骗子的人"）被排除</a:t>
            </a:r>
            <a:endParaRPr lang="en-US" sz="1200" noProof="1"/>
          </a:p>
        </p:txBody>
      </p:sp>
      <p:sp>
        <p:nvSpPr>
          <p:cNvPr id="28" name="vs3-bg"/>
          <p:cNvSpPr/>
          <p:nvPr/>
        </p:nvSpPr>
        <p:spPr>
          <a:xfrm>
            <a:off x="3937000" y="3835400"/>
            <a:ext cx="3810000" cy="203200"/>
          </a:xfrm>
          <a:prstGeom prst="rect">
            <a:avLst/>
          </a:prstGeom>
          <a:solidFill>
            <a:srgbClr val="E9F0FC"/>
          </a:solidFill>
          <a:ln>
            <a:noFill/>
          </a:ln>
        </p:spPr>
      </p:sp>
      <p:sp>
        <p:nvSpPr>
          <p:cNvPr id="29" name="vs3-fill"/>
          <p:cNvSpPr/>
          <p:nvPr/>
        </p:nvSpPr>
        <p:spPr>
          <a:xfrm>
            <a:off x="3937000" y="3835400"/>
            <a:ext cx="3810000" cy="203200"/>
          </a:xfrm>
          <a:prstGeom prst="rect">
            <a:avLst/>
          </a:prstGeom>
          <a:solidFill>
            <a:srgbClr val="0FA88B"/>
          </a:solidFill>
          <a:ln>
            <a:noFill/>
          </a:ln>
        </p:spPr>
      </p:sp>
      <p:sp>
        <p:nvSpPr>
          <p:cNvPr id="30" name="vs3-val"/>
          <p:cNvSpPr txBox="1"/>
          <p:nvPr/>
        </p:nvSpPr>
        <p:spPr>
          <a:xfrm>
            <a:off x="7874000" y="38100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FA88B"/>
                </a:solidFill>
                <a:latin typeface="MiSans"/>
                <a:ea typeface="MiSans"/>
              </a:rPr>
              <a:t>4 / 4</a:t>
            </a:r>
            <a:endParaRPr lang="en-US" sz="1200" noProof="1"/>
          </a:p>
        </p:txBody>
      </p:sp>
      <p:sp>
        <p:nvSpPr>
          <p:cNvPr id="31" name="vs4-label"/>
          <p:cNvSpPr txBox="1"/>
          <p:nvPr/>
        </p:nvSpPr>
        <p:spPr>
          <a:xfrm>
            <a:off x="3937000" y="4216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证据不够的转人工（均为只有资金证据的钱骡）</a:t>
            </a:r>
            <a:endParaRPr lang="en-US" sz="1200" noProof="1"/>
          </a:p>
        </p:txBody>
      </p:sp>
      <p:sp>
        <p:nvSpPr>
          <p:cNvPr id="32" name="vs4-val"/>
          <p:cNvSpPr txBox="1"/>
          <p:nvPr/>
        </p:nvSpPr>
        <p:spPr>
          <a:xfrm>
            <a:off x="7874000" y="41910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8930C"/>
                </a:solidFill>
                <a:latin typeface="MiSans"/>
                <a:ea typeface="MiSans"/>
              </a:rPr>
              <a:t>18</a:t>
            </a:r>
            <a:endParaRPr lang="en-US" sz="1200" noProof="1"/>
          </a:p>
        </p:txBody>
      </p:sp>
      <p:sp>
        <p:nvSpPr>
          <p:cNvPr id="33" name="vs-note"/>
          <p:cNvSpPr txBox="1"/>
          <p:nvPr/>
        </p:nvSpPr>
        <p:spPr>
          <a:xfrm>
            <a:off x="3937000" y="4572000"/>
            <a:ext cx="444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干扰人物与团伙调用同一套行为函数、参数同分布——他们"看起来很像骗子"，系统仍按真相标准全部排除，且引用都在其无罪证据里。</a:t>
            </a:r>
            <a:endParaRPr lang="en-US" sz="1100" noProof="1"/>
          </a:p>
        </p:txBody>
      </p:sp>
      <p:sp>
        <p:nvSpPr>
          <p:cNvPr id="34" name="right-tag"/>
          <p:cNvSpPr txBox="1"/>
          <p:nvPr/>
        </p:nvSpPr>
        <p:spPr>
          <a:xfrm>
            <a:off x="9144000" y="17272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2B5CE6"/>
                </a:solidFill>
                <a:latin typeface="MiSans"/>
                <a:ea typeface="MiSans"/>
              </a:rPr>
              <a:t>为什么可信</a:t>
            </a:r>
            <a:endParaRPr lang="en-US" sz="1100" noProof="1"/>
          </a:p>
        </p:txBody>
      </p:sp>
      <p:sp>
        <p:nvSpPr>
          <p:cNvPr id="35" name="right-body"/>
          <p:cNvSpPr txBox="1"/>
          <p:nvPr/>
        </p:nvSpPr>
        <p:spPr>
          <a:xfrm>
            <a:off x="9144000" y="2057400"/>
            <a:ext cx="2413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评测城种子仅评测侧持有，开发期无人查看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对抗式自查：每轮专找"只看数据规律就能认出团伙"的漏洞，累计查出 </a:t>
            </a:r>
            <a:r>
              <a:rPr lang="en-US" sz="1200" noProof="1" b="1">
                <a:solidFill>
                  <a:srgbClr val="2B5CE6"/>
                </a:solidFill>
                <a:latin typeface="MiSans"/>
                <a:ea typeface="MiSans"/>
              </a:rPr>
              <a:t>21 项</a:t>
            </a: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、修 </a:t>
            </a:r>
            <a:r>
              <a:rPr lang="en-US" sz="1200" noProof="1" b="1">
                <a:solidFill>
                  <a:srgbClr val="2B5CE6"/>
                </a:solidFill>
                <a:latin typeface="MiSans"/>
                <a:ea typeface="MiSans"/>
              </a:rPr>
              <a:t>19 项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同种子两次生成逐字节一致，成绩可复现</a:t>
            </a:r>
            <a:endParaRPr lang="en-US" sz="1200" noProof="1"/>
          </a:p>
        </p:txBody>
      </p:sp>
      <p:sp>
        <p:nvSpPr>
          <p:cNvPr id="36" name="right-quote"/>
          <p:cNvSpPr txBox="1"/>
          <p:nvPr/>
        </p:nvSpPr>
        <p:spPr>
          <a:xfrm>
            <a:off x="9144000" y="4648200"/>
            <a:ext cx="2413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500" noProof="1">
                <a:solidFill>
                  <a:srgbClr val="2B5CE6"/>
                </a:solidFill>
                <a:latin typeface="Alimama ShuHeiTi"/>
                <a:ea typeface="Alimama ShuHeiTi"/>
              </a:rPr>
              <a:t>成绩不是自己说的，</a:t>
            </a:r>
            <a:endParaRPr lang="en-US" sz="1500" noProof="1"/>
          </a:p>
          <a:p>
            <a:pPr>
              <a:lnSpc>
                <a:spcPct val="160000"/>
              </a:lnSpc>
            </a:pPr>
            <a:r>
              <a:rPr lang="en-US" sz="1500" noProof="1">
                <a:solidFill>
                  <a:srgbClr val="2B5CE6"/>
                </a:solidFill>
                <a:latin typeface="Alimama ShuHeiTi"/>
                <a:ea typeface="Alimama ShuHeiTi"/>
              </a:rPr>
              <a:t>是和真相对出来的。</a:t>
            </a:r>
            <a:endParaRPr lang="en-US" sz="1500" noProof="1"/>
          </a:p>
        </p:txBody>
      </p:sp>
      <p:sp>
        <p:nvSpPr>
          <p:cNvPr id="37" name="bottom-line"/>
          <p:cNvSpPr/>
          <p:nvPr/>
        </p:nvSpPr>
        <p:spPr>
          <a:xfrm>
            <a:off x="762000" y="59690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38" name="bottom-note"/>
          <p:cNvSpPr txBox="1"/>
          <p:nvPr/>
        </p:nvSpPr>
        <p:spPr>
          <a:xfrm>
            <a:off x="762000" y="61214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口径：私有合成评测城，engine = rules-baseline，版本 v0.3.1-r7，2026-10-04；全部数据为程序生成的合成数据，不含任何真实个人信息。</a:t>
            </a:r>
            <a:endParaRPr lang="en-US" sz="1100" noProof="1"/>
          </a:p>
        </p:txBody>
      </p:sp>
      <p:sp>
        <p:nvSpPr>
          <p:cNvPr id="39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12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11 · 系统演示 DEMO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演示三幕：看得见证据长出来的过程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55" name="shot-cap"/>
          <p:cNvSpPr txBox="1"/>
          <p:nvPr/>
        </p:nvSpPr>
        <p:spPr>
          <a:xfrm>
            <a:off x="4191000" y="5918200"/>
            <a:ext cx="723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项目真实运行截图：多角色分析与规则核验</a:t>
            </a:r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合成案例回放，展示证据不足时的拒判结果</a:t>
            </a:r>
          </a:p>
        </p:txBody>
      </p:sp>
      <p:sp>
        <p:nvSpPr>
          <p:cNvPr id="56" name="m1-num"/>
          <p:cNvSpPr txBox="1"/>
          <p:nvPr/>
        </p:nvSpPr>
        <p:spPr>
          <a:xfrm>
            <a:off x="762000" y="1778000"/>
            <a:ext cx="50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2B5CE6"/>
                </a:solidFill>
                <a:latin typeface="Alimama ShuHeiTi"/>
                <a:ea typeface="Alimama ShuHeiTi"/>
              </a:rPr>
              <a:t>壹</a:t>
            </a:r>
            <a:endParaRPr lang="en-US" sz="2600" noProof="1"/>
          </a:p>
        </p:txBody>
      </p:sp>
      <p:sp>
        <p:nvSpPr>
          <p:cNvPr id="57" name="m1-title"/>
          <p:cNvSpPr txBox="1"/>
          <p:nvPr/>
        </p:nvSpPr>
        <p:spPr>
          <a:xfrm>
            <a:off x="1371600" y="1803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破案直播</a:t>
            </a:r>
            <a:endParaRPr lang="en-US" sz="1500" noProof="1"/>
          </a:p>
        </p:txBody>
      </p:sp>
      <p:sp>
        <p:nvSpPr>
          <p:cNvPr id="58" name="m1-body"/>
          <p:cNvSpPr txBox="1"/>
          <p:nvPr/>
        </p:nvSpPr>
        <p:spPr>
          <a:xfrm>
            <a:off x="1371600" y="21336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从一起报案出发，关系图一条线一条线浮现，支持时间轴回放与拖动。</a:t>
            </a:r>
            <a:endParaRPr lang="en-US" sz="1200" noProof="1"/>
          </a:p>
        </p:txBody>
      </p:sp>
      <p:sp>
        <p:nvSpPr>
          <p:cNvPr id="59" name="m1-line"/>
          <p:cNvSpPr/>
          <p:nvPr/>
        </p:nvSpPr>
        <p:spPr>
          <a:xfrm>
            <a:off x="762000" y="3048000"/>
            <a:ext cx="3175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60" name="m2-num"/>
          <p:cNvSpPr txBox="1"/>
          <p:nvPr/>
        </p:nvSpPr>
        <p:spPr>
          <a:xfrm>
            <a:off x="762000" y="3276600"/>
            <a:ext cx="50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4A7DFF"/>
                </a:solidFill>
                <a:latin typeface="Alimama ShuHeiTi"/>
                <a:ea typeface="Alimama ShuHeiTi"/>
              </a:rPr>
              <a:t>贰</a:t>
            </a:r>
            <a:endParaRPr lang="en-US" sz="2600" noProof="1"/>
          </a:p>
        </p:txBody>
      </p:sp>
      <p:sp>
        <p:nvSpPr>
          <p:cNvPr id="61" name="m2-title"/>
          <p:cNvSpPr txBox="1"/>
          <p:nvPr/>
        </p:nvSpPr>
        <p:spPr>
          <a:xfrm>
            <a:off x="1371600" y="3302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评委当受害人</a:t>
            </a:r>
            <a:endParaRPr lang="en-US" sz="1500" noProof="1"/>
          </a:p>
        </p:txBody>
      </p:sp>
      <p:sp>
        <p:nvSpPr>
          <p:cNvPr id="62" name="m2-body"/>
          <p:cNvSpPr txBox="1"/>
          <p:nvPr/>
        </p:nvSpPr>
        <p:spPr>
          <a:xfrm>
            <a:off x="1371600" y="36322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现场输入一段可疑话术，系统判出剧本类型；服务不可用时明确提示，不静默失败。</a:t>
            </a:r>
            <a:endParaRPr lang="en-US" sz="1200" noProof="1"/>
          </a:p>
        </p:txBody>
      </p:sp>
      <p:sp>
        <p:nvSpPr>
          <p:cNvPr id="63" name="m2-line"/>
          <p:cNvSpPr/>
          <p:nvPr/>
        </p:nvSpPr>
        <p:spPr>
          <a:xfrm>
            <a:off x="762000" y="4546600"/>
            <a:ext cx="3175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64" name="m3-num"/>
          <p:cNvSpPr txBox="1"/>
          <p:nvPr/>
        </p:nvSpPr>
        <p:spPr>
          <a:xfrm>
            <a:off x="762000" y="4775200"/>
            <a:ext cx="50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E5484D"/>
                </a:solidFill>
                <a:latin typeface="Alimama ShuHeiTi"/>
                <a:ea typeface="Alimama ShuHeiTi"/>
              </a:rPr>
              <a:t>叁</a:t>
            </a:r>
            <a:endParaRPr lang="en-US" sz="2600" noProof="1"/>
          </a:p>
        </p:txBody>
      </p:sp>
      <p:sp>
        <p:nvSpPr>
          <p:cNvPr id="65" name="m3-title"/>
          <p:cNvSpPr txBox="1"/>
          <p:nvPr/>
        </p:nvSpPr>
        <p:spPr>
          <a:xfrm>
            <a:off x="1371600" y="4800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冤枉不了</a:t>
            </a:r>
            <a:endParaRPr lang="en-US" sz="1500" noProof="1"/>
          </a:p>
        </p:txBody>
      </p:sp>
      <p:sp>
        <p:nvSpPr>
          <p:cNvPr id="66" name="m3-body"/>
          <p:cNvSpPr txBox="1"/>
          <p:nvPr/>
        </p:nvSpPr>
        <p:spPr>
          <a:xfrm>
            <a:off x="1371600" y="5130800"/>
            <a:ext cx="2540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同案一名干扰人物被正式排除、一名钱骡两轮只有资金证据被转人工——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这是与别家的分水岭。</a:t>
            </a:r>
            <a:endParaRPr lang="en-US" sz="1200" noProof="1"/>
          </a:p>
        </p:txBody>
      </p:sp>
      <p:sp>
        <p:nvSpPr>
          <p:cNvPr id="67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  <p:pic>
        <p:nvPicPr>
          <p:cNvPr id="68" name="真实项目截图-analysis" descr="；来源 http://127.0.0.1:5174/，2026-10-27；案例内容为合成演示数据，回放不代表本次在线模型调用。">
            <a:extLst>
              <a:ext uri="{FF2B5EF4-FFF2-40B4-BE49-F238E27FC236}">
                <a16:creationId xmlns:a16="http://schemas.microsoft.com/office/drawing/2014/main" id="{83797C35-E299-460E-85FE-757E6BB6E4F8}"/>
              </a:ext>
            </a:extLst>
          </p:cNvPr>
          <p:cNvPicPr>
            <a:picLocks noChangeAspect="1"/>
          </p:cNvPicPr>
          <p:nvPr/>
        </p:nvPicPr>
        <p:blipFill>
          <a:blip r:embed="rIdRealProjectScreenshot"/>
          <a:stretch/>
        </p:blipFill>
        <p:spPr>
          <a:xfrm>
            <a:off x="4095750" y="1744884"/>
            <a:ext cx="7429500" cy="3749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60"/>
                            </p:stCondLst>
                            <p:childTnLst>
                              <p:par>
                                <p:cTn id="16" presetID="2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10"/>
                            </p:stCondLst>
                            <p:childTnLst>
                              <p:par>
                                <p:cTn id="20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0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3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0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3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30"/>
                            </p:stCondLst>
                            <p:childTnLst>
                              <p:par>
                                <p:cTn id="41" presetID="22" presetClass="entr" presetSubtype="2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80"/>
                            </p:stCondLst>
                            <p:childTnLst>
                              <p:par>
                                <p:cTn id="45" presetID="10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40"/>
                            </p:stCondLst>
                            <p:childTnLst>
                              <p:par>
                                <p:cTn id="52" presetID="22" presetClass="entr" presetSubtype="2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690"/>
                            </p:stCondLst>
                            <p:childTnLst>
                              <p:par>
                                <p:cTn id="56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0" presetClass="entr" presetSubtype="4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10"/>
                            </p:stCondLst>
                            <p:childTnLst>
                              <p:par>
                                <p:cTn id="70" presetID="22" presetClass="entr" presetSubtype="2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1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160"/>
                            </p:stCondLst>
                            <p:childTnLst>
                              <p:par>
                                <p:cTn id="74" presetID="10" presetClass="entr" presetSubtype="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20"/>
                            </p:stCondLst>
                            <p:childTnLst>
                              <p:par>
                                <p:cTn id="81" presetID="22" presetClass="entr" presetSubtype="2" fill="hold" grpId="1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70"/>
                            </p:stCondLst>
                            <p:childTnLst>
                              <p:par>
                                <p:cTn id="85" presetID="10" presetClass="entr" presetSubtype="0" fill="hold" grpId="1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30"/>
                            </p:stCondLst>
                            <p:childTnLst>
                              <p:par>
                                <p:cTn id="92" presetID="10" presetClass="entr" presetSubtype="0" fill="hold" grpId="1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80"/>
                            </p:stCondLst>
                            <p:childTnLst>
                              <p:par>
                                <p:cTn id="96" presetID="10" presetClass="entr" presetSubtype="0" fill="hold" grpId="1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380"/>
                            </p:stCondLst>
                            <p:childTnLst>
                              <p:par>
                                <p:cTn id="106" presetID="22" presetClass="entr" presetSubtype="2" fill="hold" grpId="1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530"/>
                            </p:stCondLst>
                            <p:childTnLst>
                              <p:par>
                                <p:cTn id="110" presetID="22" presetClass="entr" presetSubtype="4" fill="hold" grpId="1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680"/>
                            </p:stCondLst>
                            <p:childTnLst>
                              <p:par>
                                <p:cTn id="114" presetID="22" presetClass="entr" presetSubtype="2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1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830"/>
                            </p:stCondLst>
                            <p:childTnLst>
                              <p:par>
                                <p:cTn id="118" presetID="0" presetClass="emph" presetSubtype="0" fill="hold" grpId="17" nodeType="afterEffect">
                                  <p:stCondLst>
                                    <p:cond delay="0"/>
                                  </p:stCondLst>
                                  <p:childTnLst>
                                    <p:animClr calcmode="lin" valueType="rgb">
                                      <p:cBhvr additive="base">
                                        <p:cTn id="119" dur="50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from>
                                        <a:srgbClr val="FDECEF"/>
                                      </p:from>
                                      <p:to>
                                        <a:srgbClr val="E93D8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330"/>
                            </p:stCondLst>
                            <p:childTnLst>
                              <p:par>
                                <p:cTn id="121" presetID="22" presetClass="entr" presetSubtype="2" fill="hold" grpId="1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580"/>
                            </p:stCondLst>
                            <p:childTnLst>
                              <p:par>
                                <p:cTn id="125" presetID="10" presetClass="entr" presetSubtype="0" fill="hold" grpId="1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830"/>
                            </p:stCondLst>
                            <p:childTnLst>
                              <p:par>
                                <p:cTn id="135" presetID="10" presetClass="entr" presetSubtype="0" fill="hold" grpId="2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3" presetClass="entr" presetSubtype="16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230"/>
                            </p:stCondLst>
                            <p:childTnLst>
                              <p:par>
                                <p:cTn id="148" presetID="23" presetClass="entr" presetSubtype="16" fill="hold" grpId="2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3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3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3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3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580"/>
                            </p:stCondLst>
                            <p:childTnLst>
                              <p:par>
                                <p:cTn id="158" presetID="26" presetClass="emph" presetSubtype="0" fill="hold" grpId="2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6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0" dur="3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1" animBg="1"/>
      <p:bldP spid="17" grpId="1" animBg="1"/>
      <p:bldP spid="18" grpId="2" animBg="1"/>
      <p:bldP spid="19" grpId="3" animBg="1"/>
      <p:bldP spid="20" grpId="3" animBg="1"/>
      <p:bldP spid="34" grpId="3" animBg="1"/>
      <p:bldP spid="35" grpId="3" animBg="1"/>
      <p:bldP spid="36" grpId="3" animBg="1"/>
      <p:bldP spid="37" grpId="3" animBg="1"/>
      <p:bldP spid="21" grpId="4" animBg="1"/>
      <p:bldP spid="22" grpId="5" animBg="1"/>
      <p:bldP spid="23" grpId="5" animBg="1"/>
      <p:bldP spid="24" grpId="6" animBg="1"/>
      <p:bldP spid="25" grpId="7" animBg="1"/>
      <p:bldP spid="26" grpId="7" animBg="1"/>
      <p:bldP spid="38" grpId="7" animBg="1"/>
      <p:bldP spid="39" grpId="7" animBg="1"/>
      <p:bldP spid="27" grpId="8" animBg="1"/>
      <p:bldP spid="28" grpId="9" animBg="1"/>
      <p:bldP spid="29" grpId="9" animBg="1"/>
      <p:bldP spid="30" grpId="10" animBg="1"/>
      <p:bldP spid="31" grpId="11" animBg="1"/>
      <p:bldP spid="32" grpId="11" animBg="1"/>
      <p:bldP spid="33" grpId="12" animBg="1"/>
      <p:bldP spid="40" grpId="13" animBg="1"/>
      <p:bldP spid="41" grpId="13" animBg="1"/>
      <p:bldP spid="45" grpId="13" animBg="1"/>
      <p:bldP spid="42" grpId="14" animBg="1"/>
      <p:bldP spid="43" grpId="15" animBg="1"/>
      <p:bldP spid="44" grpId="16" animBg="1"/>
      <p:bldP spid="40" grpId="17" animBg="1"/>
      <p:bldP spid="46" grpId="18" animBg="1"/>
      <p:bldP spid="47" grpId="19" animBg="1"/>
      <p:bldP spid="48" grpId="19" animBg="1"/>
      <p:bldP spid="49" grpId="19" animBg="1"/>
      <p:bldP spid="50" grpId="20" animBg="1"/>
      <p:bldP spid="51" grpId="20" animBg="1"/>
      <p:bldP spid="52" grpId="20" animBg="1"/>
      <p:bldP spid="53" grpId="21" animBg="1"/>
      <p:bldP spid="54" grpId="21" animBg="1"/>
      <p:bldP spid="53" grpId="22" animBg="1"/>
    </p:bldLst>
  </p:timing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13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12 · 评测结果 EVALUATION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评测：84 名团伙成员，指认 66，冤枉 0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e1"/>
          <p:cNvSpPr txBox="1"/>
          <p:nvPr/>
        </p:nvSpPr>
        <p:spPr>
          <a:xfrm>
            <a:off x="762000" y="1625600"/>
            <a:ext cx="241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2B5CE6"/>
                </a:solidFill>
                <a:latin typeface="Alimama ShuHeiTi"/>
                <a:ea typeface="Alimama ShuHeiTi"/>
              </a:rPr>
              <a:t>66 / 84</a:t>
            </a:r>
            <a:endParaRPr lang="en-US" sz="4000" noProof="1"/>
          </a:p>
        </p:txBody>
      </p:sp>
      <p:sp>
        <p:nvSpPr>
          <p:cNvPr id="14" name="e1-cap"/>
          <p:cNvSpPr txBox="1"/>
          <p:nvPr/>
        </p:nvSpPr>
        <p:spPr>
          <a:xfrm>
            <a:off x="762000" y="2387600"/>
            <a:ext cx="241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团伙成员被指认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直接相关口径</a:t>
            </a:r>
            <a:endParaRPr lang="en-US" sz="1100" noProof="1"/>
          </a:p>
        </p:txBody>
      </p:sp>
      <p:sp>
        <p:nvSpPr>
          <p:cNvPr id="15" name="e2"/>
          <p:cNvSpPr txBox="1"/>
          <p:nvPr/>
        </p:nvSpPr>
        <p:spPr>
          <a:xfrm>
            <a:off x="3429000" y="16256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16233F"/>
                </a:solidFill>
                <a:latin typeface="Alimama ShuHeiTi"/>
                <a:ea typeface="Alimama ShuHeiTi"/>
              </a:rPr>
              <a:t>0</a:t>
            </a:r>
            <a:endParaRPr lang="en-US" sz="4000" noProof="1"/>
          </a:p>
        </p:txBody>
      </p:sp>
      <p:sp>
        <p:nvSpPr>
          <p:cNvPr id="16" name="e2-cap"/>
          <p:cNvSpPr txBox="1"/>
          <p:nvPr/>
        </p:nvSpPr>
        <p:spPr>
          <a:xfrm>
            <a:off x="3429000" y="23876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冤枉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误伤普通人为零</a:t>
            </a:r>
            <a:endParaRPr lang="en-US" sz="1100" noProof="1"/>
          </a:p>
        </p:txBody>
      </p:sp>
      <p:sp>
        <p:nvSpPr>
          <p:cNvPr id="17" name="e3"/>
          <p:cNvSpPr txBox="1"/>
          <p:nvPr/>
        </p:nvSpPr>
        <p:spPr>
          <a:xfrm>
            <a:off x="5461000" y="16256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16233F"/>
                </a:solidFill>
                <a:latin typeface="Alimama ShuHeiTi"/>
                <a:ea typeface="Alimama ShuHeiTi"/>
              </a:rPr>
              <a:t>0</a:t>
            </a:r>
            <a:endParaRPr lang="en-US" sz="4000" noProof="1"/>
          </a:p>
        </p:txBody>
      </p:sp>
      <p:sp>
        <p:nvSpPr>
          <p:cNvPr id="18" name="e3-cap"/>
          <p:cNvSpPr txBox="1"/>
          <p:nvPr/>
        </p:nvSpPr>
        <p:spPr>
          <a:xfrm>
            <a:off x="5461000" y="23876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违规指认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引用全部过门禁</a:t>
            </a:r>
            <a:endParaRPr lang="en-US" sz="1100" noProof="1"/>
          </a:p>
        </p:txBody>
      </p:sp>
      <p:sp>
        <p:nvSpPr>
          <p:cNvPr id="19" name="e4"/>
          <p:cNvSpPr txBox="1"/>
          <p:nvPr/>
        </p:nvSpPr>
        <p:spPr>
          <a:xfrm>
            <a:off x="7493000" y="16256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E8930C"/>
                </a:solidFill>
                <a:latin typeface="Alimama ShuHeiTi"/>
                <a:ea typeface="Alimama ShuHeiTi"/>
              </a:rPr>
              <a:t>18</a:t>
            </a:r>
            <a:endParaRPr lang="en-US" sz="4000" noProof="1"/>
          </a:p>
        </p:txBody>
      </p:sp>
      <p:sp>
        <p:nvSpPr>
          <p:cNvPr id="20" name="e4-cap"/>
          <p:cNvSpPr txBox="1"/>
          <p:nvPr/>
        </p:nvSpPr>
        <p:spPr>
          <a:xfrm>
            <a:off x="7493000" y="23876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转人工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均为只有资金证据的钱骡</a:t>
            </a:r>
            <a:endParaRPr lang="en-US" sz="1100" noProof="1"/>
          </a:p>
        </p:txBody>
      </p:sp>
      <p:sp>
        <p:nvSpPr>
          <p:cNvPr id="21" name="cmp-label"/>
          <p:cNvSpPr txBox="1"/>
          <p:nvPr/>
        </p:nvSpPr>
        <p:spPr>
          <a:xfrm>
            <a:off x="762000" y="309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同一座评测城 · 新旧管线对比（合规口径收紧前后）</a:t>
            </a:r>
            <a:endParaRPr lang="en-US" sz="1200" noProof="1"/>
          </a:p>
        </p:txBody>
      </p:sp>
      <p:sp>
        <p:nvSpPr>
          <p:cNvPr id="22" name="r1-label"/>
          <p:cNvSpPr txBox="1"/>
          <p:nvPr/>
        </p:nvSpPr>
        <p:spPr>
          <a:xfrm>
            <a:off x="762000" y="35306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v0.3 旧管线</a:t>
            </a:r>
            <a:endParaRPr lang="en-US" sz="1300" noProof="1"/>
          </a:p>
        </p:txBody>
      </p:sp>
      <p:sp>
        <p:nvSpPr>
          <p:cNvPr id="23" name="r1-bar1"/>
          <p:cNvSpPr/>
          <p:nvPr/>
        </p:nvSpPr>
        <p:spPr>
          <a:xfrm>
            <a:off x="2032000" y="3530600"/>
            <a:ext cx="3048000" cy="228600"/>
          </a:xfrm>
          <a:prstGeom prst="rect">
            <a:avLst/>
          </a:prstGeom>
          <a:solidFill>
            <a:srgbClr val="4A7DFF"/>
          </a:solidFill>
          <a:ln>
            <a:noFill/>
          </a:ln>
        </p:spPr>
      </p:sp>
      <p:sp>
        <p:nvSpPr>
          <p:cNvPr id="24" name="r1-bar2"/>
          <p:cNvSpPr/>
          <p:nvPr/>
        </p:nvSpPr>
        <p:spPr>
          <a:xfrm>
            <a:off x="5080000" y="3530600"/>
            <a:ext cx="2286000" cy="228600"/>
          </a:xfrm>
          <a:prstGeom prst="rect">
            <a:avLst/>
          </a:prstGeom>
          <a:solidFill>
            <a:srgbClr val="E5484D"/>
          </a:solidFill>
          <a:ln>
            <a:noFill/>
          </a:ln>
        </p:spPr>
      </p:sp>
      <p:sp>
        <p:nvSpPr>
          <p:cNvPr id="25" name="r1-val"/>
          <p:cNvSpPr txBox="1"/>
          <p:nvPr/>
        </p:nvSpPr>
        <p:spPr>
          <a:xfrm>
            <a:off x="7493000" y="35306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合规指认 48 · 违规指认 36</a:t>
            </a:r>
            <a:endParaRPr lang="en-US" sz="1200" noProof="1"/>
          </a:p>
        </p:txBody>
      </p:sp>
      <p:sp>
        <p:nvSpPr>
          <p:cNvPr id="26" name="r2-label"/>
          <p:cNvSpPr txBox="1"/>
          <p:nvPr/>
        </p:nvSpPr>
        <p:spPr>
          <a:xfrm>
            <a:off x="762000" y="39370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6233F"/>
                </a:solidFill>
                <a:latin typeface="MiSans"/>
                <a:ea typeface="MiSans"/>
              </a:rPr>
              <a:t>r7 现行版</a:t>
            </a:r>
            <a:endParaRPr lang="en-US" sz="1300" noProof="1"/>
          </a:p>
        </p:txBody>
      </p:sp>
      <p:sp>
        <p:nvSpPr>
          <p:cNvPr id="27" name="r2-bar1"/>
          <p:cNvSpPr/>
          <p:nvPr/>
        </p:nvSpPr>
        <p:spPr>
          <a:xfrm>
            <a:off x="2032000" y="3937000"/>
            <a:ext cx="4191000" cy="228600"/>
          </a:xfrm>
          <a:prstGeom prst="rect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28" name="r2-val"/>
          <p:cNvSpPr txBox="1"/>
          <p:nvPr/>
        </p:nvSpPr>
        <p:spPr>
          <a:xfrm>
            <a:off x="6350000" y="3937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合规指认 66 · 违规指认 0</a:t>
            </a:r>
            <a:endParaRPr lang="en-US" sz="1200" noProof="1"/>
          </a:p>
        </p:txBody>
      </p:sp>
      <p:sp>
        <p:nvSpPr>
          <p:cNvPr id="29" name="cmp-note"/>
          <p:cNvSpPr txBox="1"/>
          <p:nvPr/>
        </p:nvSpPr>
        <p:spPr>
          <a:xfrm>
            <a:off x="762000" y="43688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我们主动把口径收紧：旧代码 36 条指认证据与本人不直接相关，属违规；新代码 0 违规，证据不够的 18 人全部交人工。</a:t>
            </a:r>
            <a:endParaRPr lang="en-US" sz="1200" noProof="1"/>
          </a:p>
        </p:txBody>
      </p:sp>
      <p:sp>
        <p:nvSpPr>
          <p:cNvPr id="30" name="extra-line"/>
          <p:cNvSpPr/>
          <p:nvPr/>
        </p:nvSpPr>
        <p:spPr>
          <a:xfrm>
            <a:off x="762000" y="50292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31" name="extra"/>
          <p:cNvSpPr txBox="1"/>
          <p:nvPr/>
        </p:nvSpPr>
        <p:spPr>
          <a:xfrm>
            <a:off x="762000" y="51816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另外 3 座私有种子城复测，冤枉均为 0；SILENT_FAIL 0，碰到案件的 4 名干扰人物全部排除，引用均在其无罪证据内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话术识别（规则版）：公开集 14/17，私有集 19/30；故障注入测试：无关引用 24/24 全部打回</a:t>
            </a:r>
            <a:endParaRPr lang="en-US" sz="1200" noProof="1"/>
          </a:p>
        </p:txBody>
      </p:sp>
      <p:sp>
        <p:nvSpPr>
          <p:cNvPr id="32" name="src"/>
          <p:cNvSpPr txBox="1"/>
          <p:nvPr/>
        </p:nvSpPr>
        <p:spPr>
          <a:xfrm>
            <a:off x="762000" y="6172200"/>
            <a:ext cx="1066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口径与边界：私有合成评测城（种子仅评测侧持有），engine = rules-baseline，版本 v0.3.1-r7，2026-10-04；合成数据。AgentArts 平台版成绩待补。</a:t>
            </a:r>
            <a:endParaRPr lang="en-US" sz="1100" noProof="1"/>
          </a:p>
        </p:txBody>
      </p:sp>
      <p:sp>
        <p:nvSpPr>
          <p:cNvPr id="33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14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13 · 个人价值 FOR INDIVIDUALS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对每个人：转账之前，先让侦探团看一眼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who-label"/>
          <p:cNvSpPr txBox="1"/>
          <p:nvPr/>
        </p:nvSpPr>
        <p:spPr>
          <a:xfrm>
            <a:off x="762000" y="157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2B5CE6"/>
                </a:solidFill>
                <a:latin typeface="MiSans"/>
                <a:ea typeface="MiSans"/>
              </a:rPr>
              <a:t>先守护最容易被骗的三类人</a:t>
            </a:r>
            <a:endParaRPr lang="en-US" sz="1100" noProof="1"/>
          </a:p>
        </p:txBody>
      </p:sp>
      <p:sp>
        <p:nvSpPr>
          <p:cNvPr id="14" name="p1-icon"/>
          <p:cNvSpPr/>
          <p:nvPr>
            <p:extLst>
              <p:ext uri="{F5677B7D-0D2A-4D9B-9A5C-6D8D7D0E5A5D}">
                <pptd:icon encoding="base64url">eyJpY29uTmFtZSI6ImZhczp1c2VyLXNoaWVsZCJ9</pptd:icon>
              </p:ext>
            </p:extLst>
          </p:nvPr>
        </p:nvSpPr>
        <p:spPr>
          <a:xfrm>
            <a:off x="762000" y="1930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</a:path>
              <a:path w="576" h="512"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297" y="512"/>
                </a:lnTo>
                <a:cubicBezTo>
                  <a:pt x="261" y="469"/>
                  <a:pt x="240" y="415"/>
                  <a:pt x="240" y="356"/>
                </a:cubicBezTo>
                <a:lnTo>
                  <a:pt x="240" y="325"/>
                </a:lnTo>
                <a:cubicBezTo>
                  <a:pt x="240" y="318"/>
                  <a:pt x="241" y="311"/>
                  <a:pt x="243" y="304"/>
                </a:cubicBezTo>
                <a:lnTo>
                  <a:pt x="194" y="304"/>
                </a:lnTo>
                <a:close/>
              </a:path>
              <a:path w="576" h="512">
                <a:moveTo>
                  <a:pt x="422" y="260"/>
                </a:moveTo>
                <a:lnTo>
                  <a:pt x="310" y="297"/>
                </a:lnTo>
                <a:cubicBezTo>
                  <a:pt x="297" y="301"/>
                  <a:pt x="288" y="313"/>
                  <a:pt x="288" y="327"/>
                </a:cubicBezTo>
                <a:lnTo>
                  <a:pt x="288" y="358"/>
                </a:lnTo>
                <a:cubicBezTo>
                  <a:pt x="288" y="433"/>
                  <a:pt x="331" y="500"/>
                  <a:pt x="398" y="532"/>
                </a:cubicBezTo>
                <a:lnTo>
                  <a:pt x="417" y="541"/>
                </a:lnTo>
                <a:cubicBezTo>
                  <a:pt x="422" y="543"/>
                  <a:pt x="427" y="544"/>
                  <a:pt x="432" y="544"/>
                </a:cubicBezTo>
                <a:cubicBezTo>
                  <a:pt x="437" y="544"/>
                  <a:pt x="442" y="543"/>
                  <a:pt x="447" y="541"/>
                </a:cubicBezTo>
                <a:lnTo>
                  <a:pt x="466" y="532"/>
                </a:lnTo>
                <a:cubicBezTo>
                  <a:pt x="533" y="500"/>
                  <a:pt x="576" y="433"/>
                  <a:pt x="576" y="358"/>
                </a:cubicBezTo>
                <a:lnTo>
                  <a:pt x="576" y="327"/>
                </a:lnTo>
                <a:cubicBezTo>
                  <a:pt x="576" y="313"/>
                  <a:pt x="567" y="301"/>
                  <a:pt x="554" y="297"/>
                </a:cubicBezTo>
                <a:lnTo>
                  <a:pt x="442" y="259"/>
                </a:lnTo>
                <a:cubicBezTo>
                  <a:pt x="436" y="257"/>
                  <a:pt x="428" y="257"/>
                  <a:pt x="422" y="259"/>
                </a:cubicBezTo>
                <a:close/>
                <a:moveTo>
                  <a:pt x="445" y="489"/>
                </a:moveTo>
                <a:lnTo>
                  <a:pt x="432" y="495"/>
                </a:lnTo>
                <a:lnTo>
                  <a:pt x="432" y="307"/>
                </a:lnTo>
                <a:lnTo>
                  <a:pt x="528" y="339"/>
                </a:lnTo>
                <a:lnTo>
                  <a:pt x="528" y="358"/>
                </a:lnTo>
                <a:cubicBezTo>
                  <a:pt x="528" y="414"/>
                  <a:pt x="496" y="465"/>
                  <a:pt x="445" y="489"/>
                </a:cubicBezTo>
                <a:close/>
              </a:path>
            </a:pathLst>
          </a:custGeom>
          <a:solidFill>
            <a:srgbClr val="E5484D"/>
          </a:solidFill>
          <a:ln>
            <a:noFill/>
          </a:ln>
        </p:spPr>
      </p:sp>
      <p:sp>
        <p:nvSpPr>
          <p:cNvPr id="15" name="p1-name"/>
          <p:cNvSpPr txBox="1"/>
          <p:nvPr/>
        </p:nvSpPr>
        <p:spPr>
          <a:xfrm>
            <a:off x="1320800" y="1930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老年人</a:t>
            </a:r>
            <a:endParaRPr lang="en-US" sz="1500" noProof="1"/>
          </a:p>
        </p:txBody>
      </p:sp>
      <p:sp>
        <p:nvSpPr>
          <p:cNvPr id="16" name="p1-scripts"/>
          <p:cNvSpPr txBox="1"/>
          <p:nvPr/>
        </p:nvSpPr>
        <p:spPr>
          <a:xfrm>
            <a:off x="1320800" y="2260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E5484D"/>
                </a:solidFill>
                <a:latin typeface="MiSans"/>
                <a:ea typeface="MiSans"/>
              </a:rPr>
              <a:t>高危剧本：冒充公检法 · 冒充客服退款</a:t>
            </a:r>
            <a:endParaRPr lang="en-US" sz="1100" noProof="1"/>
          </a:p>
        </p:txBody>
      </p:sp>
      <p:sp>
        <p:nvSpPr>
          <p:cNvPr id="17" name="p1-scene"/>
          <p:cNvSpPr txBox="1"/>
          <p:nvPr/>
        </p:nvSpPr>
        <p:spPr>
          <a:xfrm>
            <a:off x="1320800" y="2540000"/>
            <a:ext cx="553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场景：老人接到「你涉嫌洗钱，需转账到安全账户」的电话，子女把话术贴进来，系统判出冒充公检法剧本并给出提示。</a:t>
            </a:r>
            <a:endParaRPr lang="en-US" sz="1200" noProof="1"/>
          </a:p>
        </p:txBody>
      </p:sp>
      <p:sp>
        <p:nvSpPr>
          <p:cNvPr id="18" name="p1-line"/>
          <p:cNvSpPr/>
          <p:nvPr/>
        </p:nvSpPr>
        <p:spPr>
          <a:xfrm>
            <a:off x="762000" y="3225800"/>
            <a:ext cx="6096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9" name="p2-icon"/>
          <p:cNvSpPr/>
          <p:nvPr>
            <p:extLst>
              <p:ext uri="{F5677B7D-0D2A-4D9B-9A5C-6D8D7D0E5A5D}">
                <pptd:icon encoding="base64url">eyJpY29uTmFtZSI6ImZhczpncmFkdWF0aW9uLWNhcCJ9</pptd:icon>
              </p:ext>
            </p:extLst>
          </p:nvPr>
        </p:nvSpPr>
        <p:spPr>
          <a:xfrm>
            <a:off x="762000" y="3327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8" y="196"/>
                </a:moveTo>
                <a:lnTo>
                  <a:pt x="257" y="282"/>
                </a:lnTo>
                <a:cubicBezTo>
                  <a:pt x="267" y="286"/>
                  <a:pt x="277" y="288"/>
                  <a:pt x="288" y="288"/>
                </a:cubicBezTo>
                <a:cubicBezTo>
                  <a:pt x="299" y="288"/>
                  <a:pt x="309" y="286"/>
                  <a:pt x="319" y="282"/>
                </a:cubicBezTo>
                <a:lnTo>
                  <a:pt x="561" y="182"/>
                </a:lnTo>
                <a:cubicBezTo>
                  <a:pt x="570" y="178"/>
                  <a:pt x="576" y="170"/>
                  <a:pt x="576" y="160"/>
                </a:cubicBezTo>
                <a:cubicBezTo>
                  <a:pt x="576" y="150"/>
                  <a:pt x="570" y="142"/>
                  <a:pt x="561" y="138"/>
                </a:cubicBezTo>
                <a:lnTo>
                  <a:pt x="319" y="38"/>
                </a:lnTo>
                <a:cubicBezTo>
                  <a:pt x="309" y="34"/>
                  <a:pt x="299" y="32"/>
                  <a:pt x="288" y="32"/>
                </a:cubicBezTo>
                <a:cubicBezTo>
                  <a:pt x="277" y="32"/>
                  <a:pt x="267" y="34"/>
                  <a:pt x="257" y="38"/>
                </a:cubicBezTo>
                <a:lnTo>
                  <a:pt x="15" y="138"/>
                </a:lnTo>
                <a:cubicBezTo>
                  <a:pt x="6" y="142"/>
                  <a:pt x="0" y="150"/>
                  <a:pt x="0" y="160"/>
                </a:cubicBezTo>
                <a:lnTo>
                  <a:pt x="0" y="456"/>
                </a:lnTo>
                <a:cubicBezTo>
                  <a:pt x="0" y="469"/>
                  <a:pt x="11" y="480"/>
                  <a:pt x="24" y="480"/>
                </a:cubicBezTo>
                <a:cubicBezTo>
                  <a:pt x="37" y="480"/>
                  <a:pt x="48" y="469"/>
                  <a:pt x="48" y="456"/>
                </a:cubicBezTo>
                <a:lnTo>
                  <a:pt x="48" y="196"/>
                </a:lnTo>
                <a:close/>
                <a:moveTo>
                  <a:pt x="96" y="268"/>
                </a:moveTo>
                <a:lnTo>
                  <a:pt x="96" y="384"/>
                </a:lnTo>
                <a:cubicBezTo>
                  <a:pt x="96" y="437"/>
                  <a:pt x="182" y="480"/>
                  <a:pt x="288" y="480"/>
                </a:cubicBezTo>
                <a:cubicBezTo>
                  <a:pt x="394" y="480"/>
                  <a:pt x="480" y="437"/>
                  <a:pt x="480" y="384"/>
                </a:cubicBezTo>
                <a:lnTo>
                  <a:pt x="480" y="267"/>
                </a:lnTo>
                <a:lnTo>
                  <a:pt x="337" y="326"/>
                </a:lnTo>
                <a:cubicBezTo>
                  <a:pt x="322" y="333"/>
                  <a:pt x="305" y="336"/>
                  <a:pt x="288" y="336"/>
                </a:cubicBezTo>
                <a:cubicBezTo>
                  <a:pt x="271" y="336"/>
                  <a:pt x="255" y="333"/>
                  <a:pt x="239" y="326"/>
                </a:cubicBezTo>
                <a:lnTo>
                  <a:pt x="96" y="267"/>
                </a:lnTo>
                <a:close/>
              </a:path>
            </a:pathLst>
          </a:custGeom>
          <a:solidFill>
            <a:srgbClr val="2B5CE6"/>
          </a:solidFill>
          <a:ln>
            <a:noFill/>
          </a:ln>
        </p:spPr>
      </p:sp>
      <p:sp>
        <p:nvSpPr>
          <p:cNvPr id="20" name="p2-name"/>
          <p:cNvSpPr txBox="1"/>
          <p:nvPr/>
        </p:nvSpPr>
        <p:spPr>
          <a:xfrm>
            <a:off x="1320800" y="332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大学生 · 职场新人</a:t>
            </a:r>
            <a:endParaRPr lang="en-US" sz="1500" noProof="1"/>
          </a:p>
        </p:txBody>
      </p:sp>
      <p:sp>
        <p:nvSpPr>
          <p:cNvPr id="21" name="p2-scripts"/>
          <p:cNvSpPr txBox="1"/>
          <p:nvPr/>
        </p:nvSpPr>
        <p:spPr>
          <a:xfrm>
            <a:off x="1320800" y="3657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B5CE6"/>
                </a:solidFill>
                <a:latin typeface="MiSans"/>
                <a:ea typeface="MiSans"/>
              </a:rPr>
              <a:t>高危剧本：刷单返利——发案占比 25%，居十类之首</a:t>
            </a:r>
            <a:endParaRPr lang="en-US" sz="1100" noProof="1"/>
          </a:p>
        </p:txBody>
      </p:sp>
      <p:sp>
        <p:nvSpPr>
          <p:cNvPr id="22" name="p2-scene"/>
          <p:cNvSpPr txBox="1"/>
          <p:nvPr/>
        </p:nvSpPr>
        <p:spPr>
          <a:xfrm>
            <a:off x="1320800" y="3937000"/>
            <a:ext cx="553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场景：被拉进「做任务返佣金」群，把群公告和私聊话术贴进来，命中「小额返利→大额垫付」特征即判刷单。</a:t>
            </a:r>
            <a:endParaRPr lang="en-US" sz="1200" noProof="1"/>
          </a:p>
        </p:txBody>
      </p:sp>
      <p:sp>
        <p:nvSpPr>
          <p:cNvPr id="23" name="p2-line"/>
          <p:cNvSpPr/>
          <p:nvPr/>
        </p:nvSpPr>
        <p:spPr>
          <a:xfrm>
            <a:off x="762000" y="4622800"/>
            <a:ext cx="6096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4" name="p3-icon"/>
          <p:cNvSpPr/>
          <p:nvPr>
            <p:extLst>
              <p:ext uri="{F5677B7D-0D2A-4D9B-9A5C-6D8D7D0E5A5D}">
                <pptd:icon encoding="base64url">eyJpY29uTmFtZSI6ImZhczpzdG9yZSJ9</pptd:icon>
              </p:ext>
            </p:extLst>
          </p:nvPr>
        </p:nvSpPr>
        <p:spPr>
          <a:xfrm>
            <a:off x="762000" y="4724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1" y="72"/>
                </a:moveTo>
                <a:cubicBezTo>
                  <a:pt x="38" y="48"/>
                  <a:pt x="60" y="32"/>
                  <a:pt x="84" y="32"/>
                </a:cubicBezTo>
                <a:lnTo>
                  <a:pt x="428" y="32"/>
                </a:lnTo>
                <a:cubicBezTo>
                  <a:pt x="453" y="32"/>
                  <a:pt x="475" y="48"/>
                  <a:pt x="482" y="72"/>
                </a:cubicBezTo>
                <a:lnTo>
                  <a:pt x="506" y="153"/>
                </a:lnTo>
                <a:cubicBezTo>
                  <a:pt x="518" y="196"/>
                  <a:pt x="485" y="240"/>
                  <a:pt x="440" y="240"/>
                </a:cubicBezTo>
                <a:cubicBezTo>
                  <a:pt x="414" y="240"/>
                  <a:pt x="391" y="225"/>
                  <a:pt x="379" y="203"/>
                </a:cubicBezTo>
                <a:cubicBezTo>
                  <a:pt x="368" y="225"/>
                  <a:pt x="345" y="240"/>
                  <a:pt x="318" y="240"/>
                </a:cubicBezTo>
                <a:cubicBezTo>
                  <a:pt x="291" y="240"/>
                  <a:pt x="268" y="225"/>
                  <a:pt x="257" y="203"/>
                </a:cubicBezTo>
                <a:cubicBezTo>
                  <a:pt x="245" y="225"/>
                  <a:pt x="222" y="240"/>
                  <a:pt x="195" y="240"/>
                </a:cubicBezTo>
                <a:cubicBezTo>
                  <a:pt x="168" y="240"/>
                  <a:pt x="145" y="225"/>
                  <a:pt x="134" y="203"/>
                </a:cubicBezTo>
                <a:cubicBezTo>
                  <a:pt x="122" y="225"/>
                  <a:pt x="99" y="240"/>
                  <a:pt x="73" y="240"/>
                </a:cubicBezTo>
                <a:cubicBezTo>
                  <a:pt x="27" y="240"/>
                  <a:pt x="-5" y="196"/>
                  <a:pt x="7" y="153"/>
                </a:cubicBezTo>
                <a:lnTo>
                  <a:pt x="31" y="72"/>
                </a:lnTo>
                <a:close/>
                <a:moveTo>
                  <a:pt x="96" y="352"/>
                </a:moveTo>
                <a:lnTo>
                  <a:pt x="416" y="352"/>
                </a:lnTo>
                <a:lnTo>
                  <a:pt x="416" y="286"/>
                </a:lnTo>
                <a:cubicBezTo>
                  <a:pt x="424" y="287"/>
                  <a:pt x="432" y="288"/>
                  <a:pt x="440" y="288"/>
                </a:cubicBezTo>
                <a:cubicBezTo>
                  <a:pt x="454" y="288"/>
                  <a:pt x="468" y="285"/>
                  <a:pt x="480" y="281"/>
                </a:cubicBezTo>
                <a:lnTo>
                  <a:pt x="480" y="432"/>
                </a:lnTo>
                <a:cubicBezTo>
                  <a:pt x="480" y="459"/>
                  <a:pt x="459" y="480"/>
                  <a:pt x="432" y="480"/>
                </a:cubicBezTo>
                <a:lnTo>
                  <a:pt x="80" y="480"/>
                </a:lnTo>
                <a:cubicBezTo>
                  <a:pt x="54" y="480"/>
                  <a:pt x="32" y="459"/>
                  <a:pt x="32" y="432"/>
                </a:cubicBezTo>
                <a:lnTo>
                  <a:pt x="32" y="281"/>
                </a:lnTo>
                <a:cubicBezTo>
                  <a:pt x="45" y="285"/>
                  <a:pt x="58" y="288"/>
                  <a:pt x="73" y="288"/>
                </a:cubicBezTo>
                <a:cubicBezTo>
                  <a:pt x="81" y="288"/>
                  <a:pt x="89" y="287"/>
                  <a:pt x="96" y="286"/>
                </a:cubicBezTo>
                <a:lnTo>
                  <a:pt x="96" y="352"/>
                </a:lnTo>
                <a:close/>
              </a:path>
            </a:pathLst>
          </a:custGeom>
          <a:solidFill>
            <a:srgbClr val="E8930C"/>
          </a:solidFill>
          <a:ln>
            <a:noFill/>
          </a:ln>
        </p:spPr>
      </p:sp>
      <p:sp>
        <p:nvSpPr>
          <p:cNvPr id="25" name="p3-name"/>
          <p:cNvSpPr txBox="1"/>
          <p:nvPr/>
        </p:nvSpPr>
        <p:spPr>
          <a:xfrm>
            <a:off x="1320800" y="4724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233F"/>
                </a:solidFill>
                <a:latin typeface="MiSans"/>
                <a:ea typeface="MiSans"/>
              </a:rPr>
              <a:t>个体商户店主</a:t>
            </a:r>
            <a:endParaRPr lang="en-US" sz="1500" noProof="1"/>
          </a:p>
        </p:txBody>
      </p:sp>
      <p:sp>
        <p:nvSpPr>
          <p:cNvPr id="26" name="p3-scripts"/>
          <p:cNvSpPr txBox="1"/>
          <p:nvPr/>
        </p:nvSpPr>
        <p:spPr>
          <a:xfrm>
            <a:off x="1320800" y="5054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E8930C"/>
                </a:solidFill>
                <a:latin typeface="MiSans"/>
                <a:ea typeface="MiSans"/>
              </a:rPr>
              <a:t>高危剧本：冒充平台客服 · 虚假投资理财</a:t>
            </a:r>
            <a:endParaRPr lang="en-US" sz="1100" noProof="1"/>
          </a:p>
        </p:txBody>
      </p:sp>
      <p:sp>
        <p:nvSpPr>
          <p:cNvPr id="27" name="p3-scene"/>
          <p:cNvSpPr txBox="1"/>
          <p:nvPr/>
        </p:nvSpPr>
        <p:spPr>
          <a:xfrm>
            <a:off x="1320800" y="5334000"/>
            <a:ext cx="553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场景：大促后接到「订单异常可理赔」电话，真假客服话术高度相似——系统按特征比对，给出高危 / 低危 / 证据不足结论。</a:t>
            </a:r>
            <a:endParaRPr lang="en-US" sz="1200" noProof="1"/>
          </a:p>
        </p:txBody>
      </p:sp>
      <p:sp>
        <p:nvSpPr>
          <p:cNvPr id="28" name="p3-line"/>
          <p:cNvSpPr/>
          <p:nvPr/>
        </p:nvSpPr>
        <p:spPr>
          <a:xfrm>
            <a:off x="762000" y="6019800"/>
            <a:ext cx="6096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9" name="how-label"/>
          <p:cNvSpPr txBox="1"/>
          <p:nvPr/>
        </p:nvSpPr>
        <p:spPr>
          <a:xfrm>
            <a:off x="7493000" y="15748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2B5CE6"/>
                </a:solidFill>
                <a:latin typeface="MiSans"/>
                <a:ea typeface="MiSans"/>
              </a:rPr>
              <a:t>项目真实输入界面</a:t>
            </a:r>
          </a:p>
        </p:txBody>
      </p:sp>
      <p:sp>
        <p:nvSpPr>
          <p:cNvPr id="39" name="prin-t"/>
          <p:cNvSpPr txBox="1"/>
          <p:nvPr/>
        </p:nvSpPr>
        <p:spPr>
          <a:xfrm>
            <a:off x="7496175" y="5391150"/>
            <a:ext cx="3933825" cy="523875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示例对话已填入，点击检查后提交。</a:t>
            </a:r>
          </a:p>
          <a:p>
            <a:pPr algn="l">
              <a:lnSpc>
                <a:spcPct val="160000"/>
              </a:lnSpc>
            </a:pP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不碰账户，不代替用户操作。</a:t>
            </a:r>
          </a:p>
        </p:txBody>
      </p:sp>
      <p:sp>
        <p:nvSpPr>
          <p:cNvPr id="40" name="bottom-line"/>
          <p:cNvSpPr/>
          <p:nvPr/>
        </p:nvSpPr>
        <p:spPr>
          <a:xfrm>
            <a:off x="762000" y="59690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41" name="bottom-msg"/>
          <p:cNvSpPr txBox="1"/>
          <p:nvPr/>
        </p:nvSpPr>
        <p:spPr>
          <a:xfrm>
            <a:off x="762000" y="6146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16233F"/>
                </a:solidFill>
                <a:latin typeface="MiSans"/>
                <a:ea typeface="MiSans"/>
              </a:rPr>
              <a:t>同一个「互相核对」的内核，从研判台延伸到每个人的手机屏上</a:t>
            </a:r>
            <a:endParaRPr lang="en-US" sz="1400" noProof="1"/>
          </a:p>
        </p:txBody>
      </p:sp>
      <p:sp>
        <p:nvSpPr>
          <p:cNvPr id="42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  <p:pic>
        <p:nvPicPr>
          <p:cNvPr id="43" name="真实项目截图-input" descr="；来源 http://127.0.0.1:5174/，2026-10-27；案例内容为合成演示数据，回放不代表本次在线模型调用。">
            <a:extLst>
              <a:ext uri="{FF2B5EF4-FFF2-40B4-BE49-F238E27FC236}">
                <a16:creationId xmlns:a16="http://schemas.microsoft.com/office/drawing/2014/main" id="{0A2F55E5-4E60-4E0E-BB8D-4D367D38FA22}"/>
              </a:ext>
            </a:extLst>
          </p:cNvPr>
          <p:cNvPicPr>
            <a:picLocks noChangeAspect="1"/>
          </p:cNvPicPr>
          <p:nvPr/>
        </p:nvPicPr>
        <p:blipFill>
          <a:blip r:embed="rIdRealProjectScreenshot"/>
          <a:stretch/>
        </p:blipFill>
        <p:spPr>
          <a:xfrm>
            <a:off x="7496455" y="1924050"/>
            <a:ext cx="3933265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-v1"/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3" name="bg-grid-v2"/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4" name="bg-grid-v3"/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2B5CE6">
              <a:alpha val="5098"/>
            </a:srgbClr>
          </a:solidFill>
          <a:ln>
            <a:noFill/>
          </a:ln>
        </p:spPr>
      </p:sp>
      <p:sp>
        <p:nvSpPr>
          <p:cNvPr id="5" name="bg-corner-tl-a"/>
          <p:cNvSpPr/>
          <p:nvPr/>
        </p:nvSpPr>
        <p:spPr>
          <a:xfrm>
            <a:off x="177800" y="177800"/>
            <a:ext cx="203200" cy="254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6" name="bg-corner-tl-b"/>
          <p:cNvSpPr/>
          <p:nvPr/>
        </p:nvSpPr>
        <p:spPr>
          <a:xfrm>
            <a:off x="177800" y="177800"/>
            <a:ext cx="25400" cy="203200"/>
          </a:xfrm>
          <a:prstGeom prst="rect">
            <a:avLst/>
          </a:prstGeom>
          <a:solidFill>
            <a:srgbClr val="2B5CE6">
              <a:alpha val="60000"/>
            </a:srgbClr>
          </a:solidFill>
          <a:ln>
            <a:noFill/>
          </a:ln>
        </p:spPr>
      </p:sp>
      <p:sp>
        <p:nvSpPr>
          <p:cNvPr id="7" name="bg-corner-br-a"/>
          <p:cNvSpPr/>
          <p:nvPr/>
        </p:nvSpPr>
        <p:spPr>
          <a:xfrm>
            <a:off x="11811000" y="6654800"/>
            <a:ext cx="203200" cy="254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8" name="bg-corner-br-b"/>
          <p:cNvSpPr/>
          <p:nvPr/>
        </p:nvSpPr>
        <p:spPr>
          <a:xfrm>
            <a:off x="11988800" y="6477000"/>
            <a:ext cx="25400" cy="203200"/>
          </a:xfrm>
          <a:prstGeom prst="rect">
            <a:avLst/>
          </a:prstGeom>
          <a:solidFill>
            <a:srgbClr val="E93D82">
              <a:alpha val="60000"/>
            </a:srgbClr>
          </a:solidFill>
          <a:ln>
            <a:noFill/>
          </a:ln>
        </p:spPr>
      </p:sp>
      <p:sp>
        <p:nvSpPr>
          <p:cNvPr id="9" name="bg-ghost"/>
          <p:cNvSpPr txBox="1"/>
          <p:nvPr/>
        </p:nvSpPr>
        <p:spPr>
          <a:xfrm>
            <a:off x="10236200" y="5435600"/>
            <a:ext cx="177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b"/>
          <a:lstStyle/>
          <a:p>
            <a:pPr algn="r">
              <a:lnSpc>
                <a:spcPct val="120000"/>
              </a:lnSpc>
            </a:pPr>
            <a:r>
              <a:rPr lang="en-US" sz="9200" noProof="1">
                <a:solidFill>
                  <a:srgbClr val="2B5CE6">
                    <a:alpha val="7059"/>
                  </a:srgbClr>
                </a:solidFill>
                <a:latin typeface="Alimama ShuHeiTi"/>
                <a:ea typeface="Alimama ShuHeiTi"/>
              </a:rPr>
              <a:t>15</a:t>
            </a:r>
            <a:endParaRPr lang="en-US" sz="9200" noProof="1"/>
          </a:p>
        </p:txBody>
      </p:sp>
      <p:sp>
        <p:nvSpPr>
          <p:cNvPr id="10" name="kicker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2B5CE6"/>
                </a:solidFill>
                <a:latin typeface="MiSans"/>
                <a:ea typeface="MiSans"/>
              </a:rPr>
              <a:t>14 · 社会价值 FOR SOCIETY</a:t>
            </a:r>
            <a:endParaRPr lang="en-US" sz="1100" noProof="1"/>
          </a:p>
        </p:txBody>
      </p:sp>
      <p:sp>
        <p:nvSpPr>
          <p:cNvPr id="11" name="title"/>
          <p:cNvSpPr txBox="1"/>
          <p:nvPr/>
        </p:nvSpPr>
        <p:spPr>
          <a:xfrm>
            <a:off x="762000" y="7874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spc="100" kern="0">
                <a:solidFill>
                  <a:srgbClr val="16233F"/>
                </a:solidFill>
                <a:latin typeface="Alimama ShuHeiTi"/>
                <a:ea typeface="Alimama ShuHeiTi"/>
              </a:rPr>
              <a:t>对社会：误伤可测量，防线可复制</a:t>
            </a:r>
            <a:endParaRPr lang="en-US" sz="2600" noProof="1"/>
          </a:p>
        </p:txBody>
      </p:sp>
      <p:sp>
        <p:nvSpPr>
          <p:cNvPr id="12" name="title-line"/>
          <p:cNvSpPr/>
          <p:nvPr/>
        </p:nvSpPr>
        <p:spPr>
          <a:xfrm>
            <a:off x="762000" y="13716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3" name="ctx"/>
          <p:cNvSpPr txBox="1"/>
          <p:nvPr/>
        </p:nvSpPr>
        <p:spPr>
          <a:xfrm>
            <a:off x="762000" y="1600200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2025 年全国紧急止付涉诈资金 </a:t>
            </a:r>
            <a:r>
              <a:rPr lang="en-US" sz="1300" noProof="1" b="1">
                <a:solidFill>
                  <a:srgbClr val="2B5CE6"/>
                </a:solidFill>
                <a:latin typeface="MiSans"/>
                <a:ea typeface="MiSans"/>
              </a:rPr>
              <a:t>2170.7 亿元</a:t>
            </a: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、拦截诈骗电话 </a:t>
            </a:r>
            <a:r>
              <a:rPr lang="en-US" sz="1300" noProof="1" b="1">
                <a:solidFill>
                  <a:srgbClr val="2B5CE6"/>
                </a:solidFill>
                <a:latin typeface="MiSans"/>
                <a:ea typeface="MiSans"/>
              </a:rPr>
              <a:t>36 亿次</a:t>
            </a:r>
            <a:r>
              <a:rPr lang="en-US" sz="1300" noProof="1">
                <a:solidFill>
                  <a:srgbClr val="54648A"/>
                </a:solidFill>
                <a:latin typeface="MiSans"/>
                <a:ea typeface="MiSans"/>
              </a:rPr>
              <a:t>——每一次拦截背后都是一次研判。研判每快一分、每少一次误伤，都是真金白银。</a:t>
            </a:r>
            <a:endParaRPr lang="en-US" sz="1300" noProof="1"/>
          </a:p>
        </p:txBody>
      </p:sp>
      <p:sp>
        <p:nvSpPr>
          <p:cNvPr id="14" name="b1-tag"/>
          <p:cNvSpPr txBox="1"/>
          <p:nvPr/>
        </p:nvSpPr>
        <p:spPr>
          <a:xfrm>
            <a:off x="762000" y="23622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对一线研判</a:t>
            </a:r>
            <a:endParaRPr lang="en-US" sz="1200" noProof="1"/>
          </a:p>
        </p:txBody>
      </p:sp>
      <p:sp>
        <p:nvSpPr>
          <p:cNvPr id="15" name="b1-before"/>
          <p:cNvSpPr txBox="1"/>
          <p:nvPr/>
        </p:nvSpPr>
        <p:spPr>
          <a:xfrm>
            <a:off x="762000" y="2717800"/>
            <a:ext cx="330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FA0BE"/>
                </a:solidFill>
                <a:latin typeface="MiSans"/>
                <a:ea typeface="MiSans"/>
              </a:rPr>
              <a:t>之前　</a:t>
            </a: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跨三套系统翻记录，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手工画图，结论难以复核</a:t>
            </a:r>
            <a:endParaRPr lang="en-US" sz="1200" noProof="1"/>
          </a:p>
        </p:txBody>
      </p:sp>
      <p:sp>
        <p:nvSpPr>
          <p:cNvPr id="16" name="b1-arrow"/>
          <p:cNvSpPr/>
          <p:nvPr>
            <p:extLst>
              <p:ext uri="{F5677B7D-0D2A-4D9B-9A5C-6D8D7D0E5A5D}">
                <pptd:line encoding="base64url">eyJ2aWV3Qm94IjpbMiwyMF0sInBvaW50cyI6IjEsMCAxLDIwIn0</pptd:line>
              </p:ext>
            </p:extLst>
          </p:nvPr>
        </p:nvSpPr>
        <p:spPr>
          <a:xfrm>
            <a:off x="965200" y="3454400"/>
            <a:ext cx="25400" cy="254000"/>
          </a:xfrm>
          <a:custGeom>
            <a:avLst/>
            <a:gdLst/>
            <a:ahLst/>
            <a:cxnLst/>
            <a:rect l="l" t="t" r="r" b="b"/>
            <a:pathLst>
              <a:path w="2" h="20">
                <a:moveTo>
                  <a:pt x="1" y="0"/>
                </a:moveTo>
                <a:lnTo>
                  <a:pt x="1" y="20"/>
                </a:lnTo>
              </a:path>
            </a:pathLst>
          </a:custGeom>
          <a:noFill/>
          <a:ln w="19050" cap="rnd">
            <a:solidFill>
              <a:srgbClr val="2B5CE6"/>
            </a:solidFill>
            <a:round/>
            <a:tailEnd type="arrow"/>
          </a:ln>
        </p:spPr>
      </p:sp>
      <p:sp>
        <p:nvSpPr>
          <p:cNvPr id="17" name="b1-after"/>
          <p:cNvSpPr txBox="1"/>
          <p:nvPr/>
        </p:nvSpPr>
        <p:spPr>
          <a:xfrm>
            <a:off x="762000" y="3784600"/>
            <a:ext cx="330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B5CE6"/>
                </a:solidFill>
                <a:latin typeface="MiSans"/>
                <a:ea typeface="MiSans"/>
              </a:rPr>
              <a:t>之后　</a:t>
            </a:r>
            <a:r>
              <a:rPr lang="en-US" sz="1200" noProof="1">
                <a:solidFill>
                  <a:srgbClr val="16233F"/>
                </a:solidFill>
                <a:latin typeface="MiSans"/>
                <a:ea typeface="MiSans"/>
              </a:rPr>
              <a:t>审核一张带编号的图，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6233F"/>
                </a:solidFill>
                <a:latin typeface="MiSans"/>
                <a:ea typeface="MiSans"/>
              </a:rPr>
              <a:t>点编号查原始记录，人只复核</a:t>
            </a:r>
            <a:endParaRPr lang="en-US" sz="1200" noProof="1"/>
          </a:p>
        </p:txBody>
      </p:sp>
      <p:sp>
        <p:nvSpPr>
          <p:cNvPr id="18" name="vline1"/>
          <p:cNvSpPr/>
          <p:nvPr/>
        </p:nvSpPr>
        <p:spPr>
          <a:xfrm>
            <a:off x="4381500" y="2362200"/>
            <a:ext cx="12700" cy="25400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19" name="b2-tag"/>
          <p:cNvSpPr txBox="1"/>
          <p:nvPr/>
        </p:nvSpPr>
        <p:spPr>
          <a:xfrm>
            <a:off x="4826000" y="23622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对社会信任</a:t>
            </a:r>
            <a:endParaRPr lang="en-US" sz="1200" noProof="1"/>
          </a:p>
        </p:txBody>
      </p:sp>
      <p:sp>
        <p:nvSpPr>
          <p:cNvPr id="20" name="b2-body"/>
          <p:cNvSpPr txBox="1"/>
          <p:nvPr/>
        </p:nvSpPr>
        <p:spPr>
          <a:xfrm>
            <a:off x="4826000" y="2717800"/>
            <a:ext cx="3175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每条指认可追溯到记录编号，全程可审计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误伤率可量化：合成城市评测冤枉 </a:t>
            </a:r>
            <a:r>
              <a:rPr lang="en-US" sz="1200" noProof="1" b="1">
                <a:solidFill>
                  <a:srgbClr val="2B5CE6"/>
                </a:solidFill>
                <a:latin typeface="MiSans"/>
                <a:ea typeface="MiSans"/>
              </a:rPr>
              <a:t>0</a:t>
            </a: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，证据不足全部转人工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只读不执行，冻结与报警只做模拟，最终决定权在人</a:t>
            </a:r>
            <a:endParaRPr lang="en-US" sz="1200" noProof="1"/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机构因此敢把 AI 放进真实流程</a:t>
            </a:r>
            <a:endParaRPr lang="en-US" sz="1200" noProof="1"/>
          </a:p>
        </p:txBody>
      </p:sp>
      <p:sp>
        <p:nvSpPr>
          <p:cNvPr id="21" name="vline2"/>
          <p:cNvSpPr/>
          <p:nvPr/>
        </p:nvSpPr>
        <p:spPr>
          <a:xfrm>
            <a:off x="8318500" y="2362200"/>
            <a:ext cx="12700" cy="12192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2" name="b3-tag"/>
          <p:cNvSpPr txBox="1"/>
          <p:nvPr/>
        </p:nvSpPr>
        <p:spPr>
          <a:xfrm>
            <a:off x="8763000" y="23622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2B5CE6"/>
                </a:solidFill>
                <a:latin typeface="MiSans"/>
                <a:ea typeface="MiSans"/>
              </a:rPr>
              <a:t>未来改进方向</a:t>
            </a:r>
            <a:endParaRPr lang="en-US" sz="1200" noProof="1"/>
          </a:p>
        </p:txBody>
      </p:sp>
      <p:sp>
        <p:nvSpPr>
          <p:cNvPr id="23" name="b3-body"/>
          <p:cNvSpPr txBox="1"/>
          <p:nvPr/>
        </p:nvSpPr>
        <p:spPr>
          <a:xfrm>
            <a:off x="8763000" y="2717800"/>
            <a:ext cx="2794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话术识别微调为盘古模型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>
                <a:solidFill>
                  <a:srgbClr val="54648A"/>
                </a:solidFill>
                <a:latin typeface="MiSans"/>
                <a:ea typeface="MiSans"/>
              </a:rPr>
              <a:t>· 指认附置信度与人工反馈回流</a:t>
            </a:r>
            <a:endParaRPr lang="en-US" sz="1200" noProof="1"/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预期：召回升、转人工降，</a:t>
            </a:r>
            <a:endParaRPr lang="en-US" sz="1200" noProof="1"/>
          </a:p>
          <a:p>
            <a:pPr>
              <a:lnSpc>
                <a:spcPct val="165000"/>
              </a:lnSpc>
            </a:pP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冤枉 0 保持不变</a:t>
            </a:r>
            <a:endParaRPr lang="en-US" sz="1200" noProof="1"/>
          </a:p>
        </p:txBody>
      </p:sp>
      <p:sp>
        <p:nvSpPr>
          <p:cNvPr id="24" name="hline-mid"/>
          <p:cNvSpPr/>
          <p:nvPr/>
        </p:nvSpPr>
        <p:spPr>
          <a:xfrm>
            <a:off x="762000" y="41402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25" name="scale-tag"/>
          <p:cNvSpPr txBox="1"/>
          <p:nvPr/>
        </p:nvSpPr>
        <p:spPr>
          <a:xfrm>
            <a:off x="762000" y="4368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E93D82"/>
                </a:solidFill>
                <a:latin typeface="MiSans"/>
                <a:ea typeface="MiSans"/>
              </a:rPr>
              <a:t>应对海量数据：结构将这样改变</a:t>
            </a:r>
            <a:endParaRPr lang="en-US" sz="1200" noProof="1"/>
          </a:p>
        </p:txBody>
      </p:sp>
      <p:sp>
        <p:nvSpPr>
          <p:cNvPr id="26" name="sc1"/>
          <p:cNvSpPr txBox="1"/>
          <p:nvPr/>
        </p:nvSpPr>
        <p:spPr>
          <a:xfrm>
            <a:off x="762000" y="4724400"/>
            <a:ext cx="317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① 同步 → 异步事件流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侦查结论作为事件流入队列，多案并发研判，吞吐不再受单案时长限制</a:t>
            </a:r>
            <a:endParaRPr lang="en-US" sz="1200" noProof="1"/>
          </a:p>
        </p:txBody>
      </p:sp>
      <p:sp>
        <p:nvSpPr>
          <p:cNvPr id="27" name="sc2"/>
          <p:cNvSpPr txBox="1"/>
          <p:nvPr/>
        </p:nvSpPr>
        <p:spPr>
          <a:xfrm>
            <a:off x="4381500" y="4724400"/>
            <a:ext cx="317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② 单案图 → 增量图谱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证据按实体增量落库，新报案直接挂在既有网络上，团伙跨案自然串并</a:t>
            </a:r>
            <a:endParaRPr lang="en-US" sz="1200" noProof="1"/>
          </a:p>
        </p:txBody>
      </p:sp>
      <p:sp>
        <p:nvSpPr>
          <p:cNvPr id="28" name="sc3"/>
          <p:cNvSpPr txBox="1"/>
          <p:nvPr/>
        </p:nvSpPr>
        <p:spPr>
          <a:xfrm>
            <a:off x="8001000" y="4724400"/>
            <a:ext cx="3556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 b="1">
                <a:solidFill>
                  <a:srgbClr val="16233F"/>
                </a:solidFill>
                <a:latin typeface="MiSans"/>
                <a:ea typeface="MiSans"/>
              </a:rPr>
              <a:t>③ 全量扫 → 双层检索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54648A"/>
                </a:solidFill>
                <a:latin typeface="MiSans"/>
                <a:ea typeface="MiSans"/>
              </a:rPr>
              <a:t>先索引召回候选记录，证据门禁只对候选集核验，成本随数据量近对数增长</a:t>
            </a:r>
            <a:endParaRPr lang="en-US" sz="1200" noProof="1"/>
          </a:p>
        </p:txBody>
      </p:sp>
      <p:sp>
        <p:nvSpPr>
          <p:cNvPr id="29" name="bottom-line"/>
          <p:cNvSpPr/>
          <p:nvPr/>
        </p:nvSpPr>
        <p:spPr>
          <a:xfrm>
            <a:off x="762000" y="5969000"/>
            <a:ext cx="10668000" cy="12700"/>
          </a:xfrm>
          <a:prstGeom prst="rect">
            <a:avLst/>
          </a:prstGeom>
          <a:solidFill>
            <a:srgbClr val="DFE7F6"/>
          </a:solidFill>
          <a:ln>
            <a:noFill/>
          </a:ln>
        </p:spPr>
      </p:sp>
      <p:sp>
        <p:nvSpPr>
          <p:cNvPr id="30" name="bottom-msg"/>
          <p:cNvSpPr txBox="1"/>
          <p:nvPr/>
        </p:nvSpPr>
        <p:spPr>
          <a:xfrm>
            <a:off x="762000" y="6146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16233F"/>
                </a:solidFill>
                <a:latin typeface="MiSans"/>
                <a:ea typeface="MiSans"/>
              </a:rPr>
              <a:t>系统交出证据，人保留决定权——这是能进真实研判流程的 AI</a:t>
            </a:r>
            <a:endParaRPr lang="en-US" sz="1400" noProof="1"/>
          </a:p>
        </p:txBody>
      </p:sp>
      <p:sp>
        <p:nvSpPr>
          <p:cNvPr id="31" name="page-num"/>
          <p:cNvSpPr txBox="1"/>
          <p:nvPr/>
        </p:nvSpPr>
        <p:spPr>
          <a:xfrm>
            <a:off x="11176000" y="508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0BE"/>
                </a:solidFill>
                <a:latin typeface="MiSans"/>
                <a:ea typeface="MiSans"/>
              </a:rPr>
              <a:t>15</a:t>
            </a:r>
            <a:endParaRPr lang="en-US" sz="10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host"/>
          <p:cNvSpPr txBox="1"/>
          <p:nvPr/>
        </p:nvSpPr>
        <p:spPr>
          <a:xfrm>
            <a:off x="508000" y="330200"/>
            <a:ext cx="1117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 spc="600" kern="0">
                <a:solidFill>
                  <a:srgbClr val="2B5CE6">
                    <a:alpha val="5098"/>
                  </a:srgbClr>
                </a:solidFill>
                <a:latin typeface="Alimama ShuHeiTi"/>
                <a:ea typeface="Alimama ShuHeiTi"/>
              </a:rPr>
              <a:t>EVIDENCE FIRST</a:t>
            </a:r>
            <a:endParaRPr lang="en-US" sz="7600" noProof="1"/>
          </a:p>
        </p:txBody>
      </p:sp>
      <p:sp>
        <p:nvSpPr>
          <p:cNvPr id="3" name="slash"/>
          <p:cNvSpPr/>
          <p:nvPr/>
        </p:nvSpPr>
        <p:spPr>
          <a:xfrm rot="-360000">
            <a:off x="-1778000" y="4826000"/>
            <a:ext cx="15748000" cy="2794000"/>
          </a:xfrm>
          <a:prstGeom prst="rect">
            <a:avLst/>
          </a:prstGeom>
          <a:gradFill rotWithShape="1">
            <a:gsLst>
              <a:gs pos="0">
                <a:srgbClr val="3BF0C8">
                  <a:alpha val="0"/>
                </a:srgbClr>
              </a:gs>
              <a:gs pos="50000">
                <a:srgbClr val="2B5CE6">
                  <a:alpha val="6275"/>
                </a:srgbClr>
              </a:gs>
              <a:gs pos="100000">
                <a:srgbClr val="E93D82">
                  <a:alpha val="6275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scan1"/>
          <p:cNvSpPr/>
          <p:nvPr/>
        </p:nvSpPr>
        <p:spPr>
          <a:xfrm>
            <a:off x="4191000" y="1498600"/>
            <a:ext cx="1778000" cy="38100"/>
          </a:xfrm>
          <a:prstGeom prst="rect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5" name="scan2"/>
          <p:cNvSpPr/>
          <p:nvPr/>
        </p:nvSpPr>
        <p:spPr>
          <a:xfrm>
            <a:off x="6223000" y="1498600"/>
            <a:ext cx="762000" cy="38100"/>
          </a:xfrm>
          <a:prstGeom prst="rect">
            <a:avLst/>
          </a:prstGeom>
          <a:solidFill>
            <a:srgbClr val="E93D82"/>
          </a:solidFill>
          <a:ln>
            <a:noFill/>
          </a:ln>
        </p:spPr>
      </p:sp>
      <p:sp>
        <p:nvSpPr>
          <p:cNvPr id="6" name="three"/>
          <p:cNvSpPr txBox="1"/>
          <p:nvPr/>
        </p:nvSpPr>
        <p:spPr>
          <a:xfrm>
            <a:off x="1651000" y="18796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600" noProof="1" spc="200" kern="0">
                <a:solidFill>
                  <a:srgbClr val="54648A"/>
                </a:solidFill>
                <a:latin typeface="MiSans"/>
                <a:ea typeface="MiSans"/>
              </a:rPr>
              <a:t>多智能体交叉印证　·　每条指认都有编号　·　证据不够就不指认</a:t>
            </a:r>
            <a:endParaRPr lang="en-US" sz="1600" noProof="1"/>
          </a:p>
        </p:txBody>
      </p:sp>
      <p:sp>
        <p:nvSpPr>
          <p:cNvPr id="7" name="motto"/>
          <p:cNvSpPr txBox="1"/>
          <p:nvPr/>
        </p:nvSpPr>
        <p:spPr>
          <a:xfrm>
            <a:off x="1016000" y="2794000"/>
            <a:ext cx="1016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5800" noProof="1" spc="800" kern="0">
                <a:gradFill rotWithShape="1">
                  <a:gsLst>
                    <a:gs pos="0">
                      <a:srgbClr val="2B5CE6"/>
                    </a:gs>
                    <a:gs pos="55000">
                      <a:srgbClr val="16233F"/>
                    </a:gs>
                    <a:gs pos="100000">
                      <a:srgbClr val="E93D82"/>
                    </a:gs>
                  </a:gsLst>
                  <a:lin ang="0" scaled="1"/>
                </a:gradFill>
                <a:latin typeface="Alimama ShuHeiTi"/>
                <a:ea typeface="Alimama ShuHeiTi"/>
              </a:rPr>
              <a:t>宁可放过，绝不冤枉</a:t>
            </a:r>
            <a:endParaRPr lang="en-US" sz="5800" noProof="1"/>
          </a:p>
        </p:txBody>
      </p:sp>
      <p:sp>
        <p:nvSpPr>
          <p:cNvPr id="8" name="motto-sub"/>
          <p:cNvSpPr txBox="1"/>
          <p:nvPr/>
        </p:nvSpPr>
        <p:spPr>
          <a:xfrm>
            <a:off x="1651000" y="4191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spc="400" kern="0">
                <a:solidFill>
                  <a:srgbClr val="2B5CE6"/>
                </a:solidFill>
                <a:latin typeface="MiSans"/>
                <a:ea typeface="MiSans"/>
              </a:rPr>
              <a:t>反诈侦探团 · 基于华为云 AgentArts 的多智能体诈骗团伙研判系统</a:t>
            </a:r>
            <a:endParaRPr lang="en-US" sz="1400" noProof="1"/>
          </a:p>
        </p:txBody>
      </p:sp>
      <p:sp>
        <p:nvSpPr>
          <p:cNvPr id="9" name="foot"/>
          <p:cNvSpPr txBox="1"/>
          <p:nvPr/>
        </p:nvSpPr>
        <p:spPr>
          <a:xfrm>
            <a:off x="1651000" y="4826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7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华为 ICT 创新赛 · 赛题 2　｜　全部演示与评测基于合成数据</a:t>
            </a:r>
            <a:endParaRPr lang="en-US" sz="1100" noProof="1"/>
          </a:p>
          <a:p>
            <a:pPr algn="ctr">
              <a:lnSpc>
                <a:spcPct val="170000"/>
              </a:lnSpc>
            </a:pPr>
            <a:r>
              <a:rPr lang="en-US" sz="1100" noProof="1">
                <a:solidFill>
                  <a:srgbClr val="8FA0BE"/>
                </a:solidFill>
                <a:latin typeface="MiSans"/>
                <a:ea typeface="MiSans"/>
              </a:rPr>
              <a:t>本地规则基线 v0.3.1-r7 已定版，AgentArts 平台版建设中</a:t>
            </a:r>
            <a:endParaRPr lang="en-US" sz="1100" noProof="1"/>
          </a:p>
        </p:txBody>
      </p:sp>
      <p:sp>
        <p:nvSpPr>
          <p:cNvPr id="10" name="fin-l0"/>
          <p:cNvSpPr/>
          <p:nvPr>
            <p:extLst>
              <p:ext uri="{F5677B7D-0D2A-4D9B-9A5C-6D8D7D0E5A5D}">
                <pptd:line encoding="base64url">eyJ2aWV3Qm94IjpbMTIwLDQwXSwicG9pbnRzIjoiMCw0MCAxMjAsMCJ9</pptd:line>
              </p:ext>
            </p:extLst>
          </p:nvPr>
        </p:nvSpPr>
        <p:spPr>
          <a:xfrm>
            <a:off x="1524000" y="5461000"/>
            <a:ext cx="1524000" cy="508000"/>
          </a:xfrm>
          <a:custGeom>
            <a:avLst/>
            <a:gdLst/>
            <a:ahLst/>
            <a:cxnLst/>
            <a:rect l="l" t="t" r="r" b="b"/>
            <a:pathLst>
              <a:path w="120" h="40">
                <a:moveTo>
                  <a:pt x="0" y="40"/>
                </a:moveTo>
                <a:lnTo>
                  <a:pt x="120" y="0"/>
                </a:lnTo>
              </a:path>
            </a:pathLst>
          </a:custGeom>
          <a:noFill/>
          <a:ln w="12700" cap="rnd">
            <a:solidFill>
              <a:srgbClr val="2B5CE6">
                <a:alpha val="30196"/>
              </a:srgbClr>
            </a:solidFill>
            <a:round/>
          </a:ln>
        </p:spPr>
      </p:sp>
      <p:sp>
        <p:nvSpPr>
          <p:cNvPr id="11" name="fin-l1"/>
          <p:cNvSpPr/>
          <p:nvPr>
            <p:extLst>
              <p:ext uri="{F5677B7D-0D2A-4D9B-9A5C-6D8D7D0E5A5D}">
                <pptd:line encoding="base64url">eyJ2aWV3Qm94IjpbMTIwLDUwXSwicG9pbnRzIjoiMCwwIDEyMCw1MCJ9</pptd:line>
              </p:ext>
            </p:extLst>
          </p:nvPr>
        </p:nvSpPr>
        <p:spPr>
          <a:xfrm>
            <a:off x="3048000" y="5461000"/>
            <a:ext cx="1524000" cy="635000"/>
          </a:xfrm>
          <a:custGeom>
            <a:avLst/>
            <a:gdLst/>
            <a:ahLst/>
            <a:cxnLst/>
            <a:rect l="l" t="t" r="r" b="b"/>
            <a:pathLst>
              <a:path w="120" h="50">
                <a:moveTo>
                  <a:pt x="0" y="0"/>
                </a:moveTo>
                <a:lnTo>
                  <a:pt x="120" y="50"/>
                </a:lnTo>
              </a:path>
            </a:pathLst>
          </a:custGeom>
          <a:noFill/>
          <a:ln w="12700" cap="rnd">
            <a:solidFill>
              <a:srgbClr val="2B5CE6">
                <a:alpha val="30196"/>
              </a:srgbClr>
            </a:solidFill>
            <a:round/>
          </a:ln>
        </p:spPr>
      </p:sp>
      <p:sp>
        <p:nvSpPr>
          <p:cNvPr id="12" name="fin-l2"/>
          <p:cNvSpPr/>
          <p:nvPr>
            <p:extLst>
              <p:ext uri="{F5677B7D-0D2A-4D9B-9A5C-6D8D7D0E5A5D}">
                <pptd:line encoding="base64url">eyJ2aWV3Qm94IjpbMTQwLDQwXSwicG9pbnRzIjoiMCw0MCAxNDAsMCJ9</pptd:line>
              </p:ext>
            </p:extLst>
          </p:nvPr>
        </p:nvSpPr>
        <p:spPr>
          <a:xfrm>
            <a:off x="4572000" y="5588000"/>
            <a:ext cx="1778000" cy="508000"/>
          </a:xfrm>
          <a:custGeom>
            <a:avLst/>
            <a:gdLst/>
            <a:ahLst/>
            <a:cxnLst/>
            <a:rect l="l" t="t" r="r" b="b"/>
            <a:pathLst>
              <a:path w="140" h="40">
                <a:moveTo>
                  <a:pt x="0" y="40"/>
                </a:moveTo>
                <a:lnTo>
                  <a:pt x="140" y="0"/>
                </a:lnTo>
              </a:path>
            </a:pathLst>
          </a:custGeom>
          <a:noFill/>
          <a:ln w="12700" cap="rnd">
            <a:solidFill>
              <a:srgbClr val="2B5CE6">
                <a:alpha val="30196"/>
              </a:srgbClr>
            </a:solidFill>
            <a:round/>
          </a:ln>
        </p:spPr>
      </p:sp>
      <p:sp>
        <p:nvSpPr>
          <p:cNvPr id="13" name="fin-l3"/>
          <p:cNvSpPr/>
          <p:nvPr>
            <p:extLst>
              <p:ext uri="{F5677B7D-0D2A-4D9B-9A5C-6D8D7D0E5A5D}">
                <pptd:line encoding="base64url">eyJ2aWV3Qm94IjpbMTIwLDM4XSwicG9pbnRzIjoiMCwwIDEyMCwzOCJ9</pptd:line>
              </p:ext>
            </p:extLst>
          </p:nvPr>
        </p:nvSpPr>
        <p:spPr>
          <a:xfrm>
            <a:off x="6350000" y="5588000"/>
            <a:ext cx="1524000" cy="482600"/>
          </a:xfrm>
          <a:custGeom>
            <a:avLst/>
            <a:gdLst/>
            <a:ahLst/>
            <a:cxnLst/>
            <a:rect l="l" t="t" r="r" b="b"/>
            <a:pathLst>
              <a:path w="120" h="38">
                <a:moveTo>
                  <a:pt x="0" y="0"/>
                </a:moveTo>
                <a:lnTo>
                  <a:pt x="120" y="38"/>
                </a:lnTo>
              </a:path>
            </a:pathLst>
          </a:custGeom>
          <a:noFill/>
          <a:ln w="12700" cap="rnd">
            <a:solidFill>
              <a:srgbClr val="2B5CE6">
                <a:alpha val="30196"/>
              </a:srgbClr>
            </a:solidFill>
            <a:round/>
          </a:ln>
        </p:spPr>
      </p:sp>
      <p:sp>
        <p:nvSpPr>
          <p:cNvPr id="14" name="fin-l4"/>
          <p:cNvSpPr/>
          <p:nvPr>
            <p:extLst>
              <p:ext uri="{F5677B7D-0D2A-4D9B-9A5C-6D8D7D0E5A5D}">
                <pptd:line encoding="base64url">eyJ2aWV3Qm94IjpbMTIwLDQ0XSwicG9pbnRzIjoiMCw0NCAxMjAsMCJ9</pptd:line>
              </p:ext>
            </p:extLst>
          </p:nvPr>
        </p:nvSpPr>
        <p:spPr>
          <a:xfrm>
            <a:off x="7874000" y="5511800"/>
            <a:ext cx="1524000" cy="558800"/>
          </a:xfrm>
          <a:custGeom>
            <a:avLst/>
            <a:gdLst/>
            <a:ahLst/>
            <a:cxnLst/>
            <a:rect l="l" t="t" r="r" b="b"/>
            <a:pathLst>
              <a:path w="120" h="44">
                <a:moveTo>
                  <a:pt x="0" y="44"/>
                </a:moveTo>
                <a:lnTo>
                  <a:pt x="120" y="0"/>
                </a:lnTo>
              </a:path>
            </a:pathLst>
          </a:custGeom>
          <a:noFill/>
          <a:ln w="12700" cap="rnd">
            <a:solidFill>
              <a:srgbClr val="2B5CE6">
                <a:alpha val="30196"/>
              </a:srgbClr>
            </a:solidFill>
            <a:round/>
          </a:ln>
        </p:spPr>
      </p:sp>
      <p:sp>
        <p:nvSpPr>
          <p:cNvPr id="15" name="fin-l5"/>
          <p:cNvSpPr/>
          <p:nvPr>
            <p:extLst>
              <p:ext uri="{F5677B7D-0D2A-4D9B-9A5C-6D8D7D0E5A5D}">
                <pptd:line encoding="base64url">eyJ2aWV3Qm94IjpbMTEwLDQyXSwicG9pbnRzIjoiMCwwIDExMCw0MiJ9</pptd:line>
              </p:ext>
            </p:extLst>
          </p:nvPr>
        </p:nvSpPr>
        <p:spPr>
          <a:xfrm>
            <a:off x="9398000" y="5511800"/>
            <a:ext cx="1397000" cy="533400"/>
          </a:xfrm>
          <a:custGeom>
            <a:avLst/>
            <a:gdLst/>
            <a:ahLst/>
            <a:cxnLst/>
            <a:rect l="l" t="t" r="r" b="b"/>
            <a:pathLst>
              <a:path w="110" h="42">
                <a:moveTo>
                  <a:pt x="0" y="0"/>
                </a:moveTo>
                <a:lnTo>
                  <a:pt x="110" y="42"/>
                </a:lnTo>
              </a:path>
            </a:pathLst>
          </a:custGeom>
          <a:noFill/>
          <a:ln w="12700" cap="rnd">
            <a:solidFill>
              <a:srgbClr val="2B5CE6">
                <a:alpha val="30196"/>
              </a:srgbClr>
            </a:solidFill>
            <a:round/>
          </a:ln>
        </p:spPr>
      </p:sp>
      <p:sp>
        <p:nvSpPr>
          <p:cNvPr id="16" name="fin-l6"/>
          <p:cNvSpPr/>
          <p:nvPr>
            <p:extLst>
              <p:ext uri="{F5677B7D-0D2A-4D9B-9A5C-6D8D7D0E5A5D}">
                <pptd:line encoding="base64url">eyJ2aWV3Qm94IjpbMjYwLDEwXSwicG9pbnRzIjoiMCwwIDI2MCwxMCJ9</pptd:line>
              </p:ext>
            </p:extLst>
          </p:nvPr>
        </p:nvSpPr>
        <p:spPr>
          <a:xfrm>
            <a:off x="3048000" y="5461000"/>
            <a:ext cx="3302000" cy="127000"/>
          </a:xfrm>
          <a:custGeom>
            <a:avLst/>
            <a:gdLst/>
            <a:ahLst/>
            <a:cxnLst/>
            <a:rect l="l" t="t" r="r" b="b"/>
            <a:pathLst>
              <a:path w="260" h="10">
                <a:moveTo>
                  <a:pt x="0" y="0"/>
                </a:moveTo>
                <a:lnTo>
                  <a:pt x="260" y="10"/>
                </a:lnTo>
              </a:path>
            </a:pathLst>
          </a:custGeom>
          <a:noFill/>
          <a:ln w="12700" cap="rnd">
            <a:solidFill>
              <a:srgbClr val="2B5CE6">
                <a:alpha val="30196"/>
              </a:srgbClr>
            </a:solidFill>
            <a:round/>
          </a:ln>
        </p:spPr>
      </p:sp>
      <p:sp>
        <p:nvSpPr>
          <p:cNvPr id="17" name="fin-l7"/>
          <p:cNvSpPr/>
          <p:nvPr>
            <p:extLst>
              <p:ext uri="{F5677B7D-0D2A-4D9B-9A5C-6D8D7D0E5A5D}">
                <pptd:line encoding="base64url">eyJ2aWV3Qm94IjpbMjQwLDZdLCJwb2ludHMiOiIwLDYgMjQwLDAifQ</pptd:line>
              </p:ext>
            </p:extLst>
          </p:nvPr>
        </p:nvSpPr>
        <p:spPr>
          <a:xfrm>
            <a:off x="6350000" y="5511800"/>
            <a:ext cx="3048000" cy="76200"/>
          </a:xfrm>
          <a:custGeom>
            <a:avLst/>
            <a:gdLst/>
            <a:ahLst/>
            <a:cxnLst/>
            <a:rect l="l" t="t" r="r" b="b"/>
            <a:pathLst>
              <a:path w="240" h="6">
                <a:moveTo>
                  <a:pt x="0" y="6"/>
                </a:moveTo>
                <a:lnTo>
                  <a:pt x="240" y="0"/>
                </a:lnTo>
              </a:path>
            </a:pathLst>
          </a:custGeom>
          <a:noFill/>
          <a:ln w="12700" cap="rnd">
            <a:solidFill>
              <a:srgbClr val="2B5CE6">
                <a:alpha val="30196"/>
              </a:srgbClr>
            </a:solidFill>
            <a:round/>
          </a:ln>
        </p:spPr>
      </p:sp>
      <p:sp>
        <p:nvSpPr>
          <p:cNvPr id="18" name="fin-nA"/>
          <p:cNvSpPr/>
          <p:nvPr/>
        </p:nvSpPr>
        <p:spPr>
          <a:xfrm>
            <a:off x="1460500" y="5905500"/>
            <a:ext cx="127000" cy="127000"/>
          </a:xfrm>
          <a:prstGeom prst="ellipse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19" name="fin-nB"/>
          <p:cNvSpPr/>
          <p:nvPr/>
        </p:nvSpPr>
        <p:spPr>
          <a:xfrm>
            <a:off x="2997200" y="5410200"/>
            <a:ext cx="101600" cy="101600"/>
          </a:xfrm>
          <a:prstGeom prst="ellipse">
            <a:avLst/>
          </a:prstGeom>
          <a:solidFill>
            <a:srgbClr val="7AA5FF"/>
          </a:solidFill>
          <a:ln>
            <a:noFill/>
          </a:ln>
        </p:spPr>
      </p:sp>
      <p:sp>
        <p:nvSpPr>
          <p:cNvPr id="20" name="fin-nC"/>
          <p:cNvSpPr/>
          <p:nvPr/>
        </p:nvSpPr>
        <p:spPr>
          <a:xfrm>
            <a:off x="4508500" y="6032500"/>
            <a:ext cx="127000" cy="127000"/>
          </a:xfrm>
          <a:prstGeom prst="ellipse">
            <a:avLst/>
          </a:prstGeom>
          <a:solidFill>
            <a:srgbClr val="E93D82"/>
          </a:solidFill>
          <a:ln>
            <a:noFill/>
          </a:ln>
        </p:spPr>
      </p:sp>
      <p:sp>
        <p:nvSpPr>
          <p:cNvPr id="21" name="fin-nD"/>
          <p:cNvSpPr/>
          <p:nvPr/>
        </p:nvSpPr>
        <p:spPr>
          <a:xfrm>
            <a:off x="6299200" y="5537200"/>
            <a:ext cx="101600" cy="101600"/>
          </a:xfrm>
          <a:prstGeom prst="ellipse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22" name="fin-nE"/>
          <p:cNvSpPr/>
          <p:nvPr/>
        </p:nvSpPr>
        <p:spPr>
          <a:xfrm>
            <a:off x="7810500" y="6007100"/>
            <a:ext cx="127000" cy="127000"/>
          </a:xfrm>
          <a:prstGeom prst="ellipse">
            <a:avLst/>
          </a:prstGeom>
          <a:solidFill>
            <a:srgbClr val="7AA5FF"/>
          </a:solidFill>
          <a:ln>
            <a:noFill/>
          </a:ln>
        </p:spPr>
      </p:sp>
      <p:sp>
        <p:nvSpPr>
          <p:cNvPr id="23" name="fin-nF"/>
          <p:cNvSpPr/>
          <p:nvPr/>
        </p:nvSpPr>
        <p:spPr>
          <a:xfrm>
            <a:off x="9347200" y="5461000"/>
            <a:ext cx="101600" cy="101600"/>
          </a:xfrm>
          <a:prstGeom prst="ellipse">
            <a:avLst/>
          </a:prstGeom>
          <a:solidFill>
            <a:srgbClr val="2B5CE6"/>
          </a:solidFill>
          <a:ln>
            <a:noFill/>
          </a:ln>
        </p:spPr>
      </p:sp>
      <p:sp>
        <p:nvSpPr>
          <p:cNvPr id="24" name="fin-nG"/>
          <p:cNvSpPr/>
          <p:nvPr/>
        </p:nvSpPr>
        <p:spPr>
          <a:xfrm>
            <a:off x="10731500" y="5981700"/>
            <a:ext cx="127000" cy="127000"/>
          </a:xfrm>
          <a:prstGeom prst="ellipse">
            <a:avLst/>
          </a:prstGeom>
          <a:solidFill>
            <a:srgbClr val="E93D82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16</Slides>
</Properties>
</file>

<file path=docProps/core.xml><?xml version="1.0" encoding="utf-8"?>
<cp:coreProperties xmlns:dc="http://purl.org/dc/elements/1.1/" xmlns:cp="http://schemas.openxmlformats.org/package/2006/metadata/core-properties">
  <dc:title>反诈侦探团——基于多智能体的诈骗团伙研判系统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